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93/bioinformatics/btp358" TargetMode="External"/><Relationship Id="rId3" Type="http://schemas.openxmlformats.org/officeDocument/2006/relationships/hyperlink" Target="https://www.frontiersin.org/journals/systems-neuroscience/articles/10.3389/fnsys.2015.00164/full" TargetMode="External"/><Relationship Id="rId4" Type="http://schemas.openxmlformats.org/officeDocument/2006/relationships/hyperlink" Target="https://journals.plos.org/ploscompbiol/article?id=10.1371/journal.pcbi.101141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当前数据的生理参数：稳定性与可达性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固定六状态、单驱动 SSM｜E1–E6 实测与已知真值校准｜2026-10-10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证据：experiments/runs/physiology_semantic_tokenizer/shared_driver_parameter_stability/20261010_v1/{summary.json,pair_plan.json}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本轮回答什么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是否存在两次记录都能接受的共同内点？求解是否充分？连续性、权重或共享能否改善独立重复？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数据和分工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三公开数据集；18 名开发被试决定坐标与超参数，53 名候选评价被试用于冻结后的比较。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怎样定义“最好”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在预先冻结的候选中比较内点、重复差异、逐模态拟合及参数转移，同时要求保留真实个体差异。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结论口径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12个数据集×参数层次中，0个观察最佳结果同时满足数值通过率≥95%和重复差异中位≤20%。实测个体生理准确性仍未建立；共享的稳定收益须与真实差异恢复分开判断。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先看实测结论：稳定、内点与拟合需同时成立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跨参数层次的描述性排名：先取有效配对率最高，再取重复差异中位最低；评价结果不用于重新选择方法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证据：summary.json：evaluation_assessment；完整指标与逐模型对照见后续方法/结果页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567160" cy="158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463040"/>
                <a:gridCol w="1645920"/>
                <a:gridCol w="2468880"/>
                <a:gridCol w="1508760"/>
                <a:gridCol w="1463040"/>
                <a:gridCol w="12801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重复来源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观察最佳方法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有效配对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独立记录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51.5%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47.8%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8/69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同记录块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12/60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独立记录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42.0%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54.3%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7/35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重复差异＝各自由参数2|A−B|/(A+B)的最大值；近界＝任一参数距原log边界&lt;5%。有效配对还要求重复≤20%、数值及拟合/转移通过。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71 名被试对应多组区域配对，不能当作更多被试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“组”＝同一被试、同一 ROI／montage 的 A/B 配对；最后两列只统计评价身份，格式为人数/配对组数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证据：pair_plan.json；canonical native record/event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158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43000"/>
                <a:gridCol w="1143000"/>
                <a:gridCol w="1143000"/>
                <a:gridCol w="1143000"/>
                <a:gridCol w="2011680"/>
                <a:gridCol w="210312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开发人数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候选人数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开发组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评价组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评价独立人/组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评价同记录人/组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23/69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20/60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7/35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3/15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53只是候选身份数；独立原生记录的主评价共30人。Simultaneous 全部为同记录块，只作辅助稳定性证据。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先冻结身份，再建立同一个观测坐标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原 outer-fold 变换不沿用；候选评价被试不参与 PCA、尺度、工作协方差或共享参数拟合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证据：pair_plan.json；coordinates.json；docs/DATA_CONTRACT.md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开发身份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直接复用原 diagnostic_plan 的 QC 分层名单。开发选择没有读取拟合误差或参数，三个数据集各 6 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重复配对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匹配任务、条件标记计数比例、时长、Hb 通道和 EEG montage。不能确认 session 的拼接段归入同记录辅助评价。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区域依赖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一名被试可以提供多个区域；Visual 的两个 Probe 是空间位置，不能配成两次重复。区间重采样以被试为单位。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确认性边界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这些公开被试历史上曾被查看。本轮是冻结评价，不是全新的独立确认队列；未访问其他协议的受保护 split。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输入是处理后的观测，不是生理真值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每个真实连续 90 s 片段划为三块；A/B 处理相同；4 Hz 输出，120 点＝30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证据：prepared/*.json；coordinates.json；native_feature_operators；fit_feature_coordinate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EEG 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6 个真实邻近通道 × 5 个频带功率 → 对数 → 每块前 5 s 参考 → 开发 PCA 第一分量 → 开发尺度。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Hb 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原生相对 HbO/HbR → 不作运动校正 → 原 30 s 滤波／重采样／前 5 s 参考。HbO 与 HbR 共用一个正比例因子。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保持什么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原生通道、时间锚点、真实有限支持和单位来源保留。每段初始参考不是静息状态真值，也不是个体光学标定。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评分坐标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所有方法都在相同的冻结观测坐标中评分。NRMSE 分母来自开发 SD，不能用本窗口标准差或加权损失替换。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六个状态的职责与真实计算路径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r 在 0.25 s 网格上自由估计、区间零阶保持；RK4 积分其余五个状态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证据：shared_driver_rk4._slope/_integrate；native_model_operator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神经血流驱动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状态为 [r,s,f,v,p,q]。r 是冻结坐标的有效驱动；s=df/dt，单位s⁻¹。f、v、p、q是归一化流量、体积及模型坐标的总/脱氧Hb。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血流部分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ds/dt = βr − κs − γ(f−1)</a:t>
            </a:r>
          </a:p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df/dt = s</a:t>
            </a:r>
          </a:p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dv/dt = (f−v^(1/α))/τ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Hb 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dp/dt = [f−v^(1/α−1)p]/τ</a:t>
            </a:r>
          </a:p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dq/dt = [fE(f)/E₀−v^(1/α−1)q]/τ</a:t>
            </a:r>
          </a:p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E(f)=1−(1−E₀)^(1/f)。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从状态到观测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EEG 读出为 r；HbO 为 P₀(p−1)−Q₀(q−1)，HbR 为 Q₀(q−1)。再通过同一分块观测处理算子。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逐层释放参数，联合模型按整个向量判断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固定 α=E₀=0.32（无量纲）、γ=0.32 s⁻²；P₀=1、Q₀=0.35为模型Hb尺度，均未经个体标定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证据：resolved_config.yaml；dimension_decision.json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743200"/>
                <a:gridCol w="52120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自由生理参数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原搜索范围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解释与作用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无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τ=2、β=1、κ=0.64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固定参数重建对照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P1-τ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0.5–8 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条件于观测坐标的转运时间常数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P1-β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0.1–10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冻结观测坐标中的有效驱动增益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τ、β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两者原范围不变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检查过去固定伴随参数的补偿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τ、β、κ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κ：0.2–1.5 s⁻¹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 信息与合成校准通过后才加入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“搜索范围”不是人群正常区间。P2/P3 只要有一个自由参数漂移或近界，就不能宣称整个生理向量更稳定。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拟合目标含工程正则，不能冒充噪声似然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原目标 Q＝观测平方误差＋驱动二阶平滑＋初态先验＋log-flow 软锚定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证据：fit_nonlinear_shared_parameters；objective_components；resolved_config.yaml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观测项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Qobs = Σ[(预测−观测)/开发 SD]²。W1 另乘冻结工作精度矩阵；比较方法时仍报告原坐标 NRMSE。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原正则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驱动：0.01·Σ(Δ²r)²/dt³。初态：100·||x₀−[0,1,1,1,1]||²。flow：dt·Σlog²(f)/log²(2)。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新增共享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z=log θ；仅 H 臂增加 λΣ(z−μ)²/Ω。每组只加一次参数先验，不随三段窗口数量重复添加。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数学合法域与数值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要求 f,v,p,q&gt;0，Q₀q≤P₀p，氧提取合法；RK4 中间点也检查。基线每起点 600B 次单 trial 前向预算，B 为段数。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连续性实验只改变初态重置与先验数量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三臂看见同一 90 s 观测，使用同一组三块 30 s 处理算子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证据：record_arrays；curvature_breaks；development_methods/*.json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C0a：原分段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3 段各有自由驱动及 5 个初态；生理参数跨三段共享。三段初态都施加原先验。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C0b：减少先验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仍允许在 30、60 s 重置初态；只约束第一段初态。C0b−C0a 主要反映先验数量变化。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C1：保持连续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整段只有 5 个起点初态；五个 ODE 状态跨30、60 s连续。r仍按网格自由更新，平滑不跨这两个原边界额外加项。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正确比较方向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C1 对 C0b 减少自由度，其最优训练目标不应更小。需要看到重复性或转移收益，并保持原始拟合在容差内。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把重复、拟合、转移和 ICC 分别计算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A/B片段分别初始化和估计，只共用冻结的总体对象；独立原生记录与同记录块分层报告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证据：metric_contract in summary.json；pair_metrics.csv；parameter_estimates.csv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重复差异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d_j = 2|θA,j−θB,j|/(|θA,j|+|θB,j|)，范围0–200%。向量取各自由参数最大值；先被试内平均区域，再报被试中位数/P90。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原始拟合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NRMSE_m = sqrt(mean_t[(ŷm−ym)²])/SDdev,m。先两记录平均、再被试内区域平均、最后被试等权平均。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参数转移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固定 A 的生理参数去拟合 B，只重新估计 B 的驱动和初态；反向同做。它是条件重建，不是无条件预测。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ICC 与区间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在 log 参数上按数据集、同一 ROI/montage 分别算绝对一致性 ICC(A,1)。95% 区间按被试 bootstrap，冻结训练对象不重拟合。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有效内点配对率保留所有登记配对作为分母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单独离开边界、相关性变高或重复差异变小，都不等于生理参数恢复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证据：result_metrics；resolved_config.yaml；pair_metrics.csv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内点定义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b=min[(logθ−logL)/log(U/L), (logU−logθ)/log(U/L)]。主定义 b≥5%；同时报告精确贴边及 1%/10% 敏感性。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数值与重复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A/B 两次均通过收敛及原参数投影梯度检查；每个自由参数都在内区；最差分量重复差异 ≤20%。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拟合与转移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每条记录、每个模态的 NRMSE 恶化均 ≤0.01；转移也逐记录、逐模态通过。任一失败使该配对不通过。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防止假稳定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固定和完全共享的个体差异为零，不计为有效个体恢复。合成恢复还检查误差中位≤10%、P90≤25%、斜率0.8–1.2。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合成校准保留同一采样与处理，噪声为已知设定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每名虚拟被试的两次记录共享参数真值，但驱动相位、初态和观测噪声独立生成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证据：synthetic_pair；oracle_fit；resolved_config.yaml；synthetic/*.json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多个参数真值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参考值的log坐标加入SD=0、0.15、0.45的差异；非零差异层另设少量2.5%近界真值。未释放参数保持参考值。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驱动与初态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驱动为4个随机相位正弦叠加，角频率0.08/0.25/0.6/1.4 rad/s，SD=0.025。s₀的SD为0.005；四个正初态的log SD为0.015。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观测与噪声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90 s、4 Hz、相同分块处理算子。三个通道工作尺度均0.025，再加独立高斯噪声SD=0.00125，即归一化0.05；不宣称等同实测噪声。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真实 oracle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生成用8子步，拟合用4子步。oracle只估生理参数，并获知真实驱动与初态；普通拟合独立重估补偿量，不使用个体真值。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多真值校准检验个体差异，生成失败单列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每层次：32 名虚拟被试 × 3 种差异水平 × 2 次独立记录；参数真值仅供生成、评分及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证据：synthetic_manifest.json；synthetic/*.json；synthetic_summary.json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198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03120"/>
                <a:gridCol w="2103120"/>
                <a:gridCol w="2103120"/>
                <a:gridCol w="228600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计划被试条件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可生成条件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生成/任务失败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可评分记录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192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零／小／大 log 差异 SD 为 0、0.15、0.45。近上界 β 的指定驱动可违反数学合法域；成功子集误差不代表整个参数盒可恢复。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P1：τ：理想条件下检验误差与假稳定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大个体差异条件；柱＝相对误差中位数，黑菱形＝P90；固定参考值是无个体差异的对照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证据：synthetic_estimates.csv；synthetic_summary.json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14</a:t>
            </a:r>
          </a:p>
        </p:txBody>
      </p:sp>
      <p:pic>
        <p:nvPicPr>
          <p:cNvPr id="6" name="Picture 5" descr="synthetic_P1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1200"/>
            <a:ext cx="11064240" cy="3995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分段→连续的误差中位数：τ: 2.2%→1.0%。正确生成模型下的恢复不能替代实测生理验证。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P1：β：理想条件下检验误差与假稳定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大个体差异条件；柱＝相对误差中位数，黑菱形＝P90；固定参考值是无个体差异的对照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证据：synthetic_estimates.csv；synthetic_summary.json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15</a:t>
            </a:r>
          </a:p>
        </p:txBody>
      </p:sp>
      <p:pic>
        <p:nvPicPr>
          <p:cNvPr id="6" name="Picture 5" descr="synthetic_P1_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1200"/>
            <a:ext cx="11064240" cy="3995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分段→连续的误差中位数：β: 0.9%→0.6%。正确生成模型下的恢复不能替代实测生理验证。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P2：τ、β：理想条件下检验误差与假稳定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大个体差异条件；柱＝相对误差中位数，黑菱形＝P90；固定参考值是无个体差异的对照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证据：synthetic_estimates.csv；synthetic_summary.json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16</a:t>
            </a:r>
          </a:p>
        </p:txBody>
      </p:sp>
      <p:pic>
        <p:nvPicPr>
          <p:cNvPr id="6" name="Picture 5" descr="synthetic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1200"/>
            <a:ext cx="11064240" cy="3995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分段→连续的误差中位数：τ: 3.8%→1.6%；β: 1.5%→0.7%。正确生成模型下的恢复不能替代实测生理验证。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P3：τ、β、κ：理想条件下检验误差与假稳定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大个体差异条件；柱＝相对误差中位数，黑菱形＝P90；固定参考值是无个体差异的对照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证据：synthetic_estimates.csv；synthetic_summary.json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17</a:t>
            </a:r>
          </a:p>
        </p:txBody>
      </p:sp>
      <p:pic>
        <p:nvPicPr>
          <p:cNvPr id="6" name="Picture 5" descr="synthetic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91200"/>
            <a:ext cx="11064240" cy="3995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分段→连续的误差中位数：τ: 3.7%→1.7%；β: 2.1%→1.1%；κ: 2.2%→1.3%。正确生成模型下的恢复不能替代实测生理验证。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合成校准：零个体差异下的恢复与收敛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误差对每条记录的已知参数真值评分；斜率为被试两次均值的 log 估计对 log 真值回归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证据：synthetic_summary.json；synthetic_estimates.csv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9728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1645920"/>
                <a:gridCol w="1645920"/>
                <a:gridCol w="1645920"/>
                <a:gridCol w="1645920"/>
                <a:gridCol w="182880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分段误差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连续误差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分段斜率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连续斜率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分段数值通过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数值通过率以每层每水平计划64条记录为分母。零差异时斜率无定义；恒定参数在这一条件表现好不能证明差异恢复。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合成校准：较小个体差异下的恢复与收敛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误差对每条记录的已知参数真值评分；斜率为被试两次均值的 log 估计对 log 真值回归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证据：synthetic_summary.json；synthetic_estimates.csv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9728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1645920"/>
                <a:gridCol w="1645920"/>
                <a:gridCol w="1645920"/>
                <a:gridCol w="1645920"/>
                <a:gridCol w="182880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分段误差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连续误差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分段斜率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连续斜率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分段数值通过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数值通过率以每层每水平计划64条记录为分母。零差异时斜率无定义；恒定参数在这一条件表现好不能证明差异恢复。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合成校准：较大个体差异下的恢复与收敛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误差对每条记录的已知参数真值评分；斜率为被试两次均值的 log 估计对 log 真值回归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证据：synthetic_summary.json；synthetic_estimates.csv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9728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1645920"/>
                <a:gridCol w="1645920"/>
                <a:gridCol w="1645920"/>
                <a:gridCol w="1645920"/>
                <a:gridCol w="182880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分段误差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连续误差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分段斜率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连续斜率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分段数值通过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数值通过率以每层每水平计划64条记录为分母。零差异时斜率无定义；恒定参数在这一条件表现好不能证明差异恢复。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合成信息近似能否解释实际重复波动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大差异条件；仅纳入两次均通过数值检查且全参数在5%内区的被试；d＝logθA−logθB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证据：summary.json：synthetic_information_calibration；synthetic/*.json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014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94360"/>
                <a:gridCol w="1920240"/>
                <a:gridCol w="1188720"/>
                <a:gridCol w="2148840"/>
                <a:gridCol w="2148840"/>
                <a:gridCol w="21945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可用人数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平均d²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平均工作V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平均d²/V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3.87e-04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5.91e-04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9.68e-05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3.17e-04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6.48e-04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6.35e-04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5.53e-04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3.74e-04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1.54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6.45e-04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3.57e-03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1.61e-03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4.33e-03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0.76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1.05e-04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1.22e-03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V=0.05²·diag(I⁻¹A+I⁻¹B)，I为有效数据曲率。理想局部线性近似预期平均d²/V约1；正则偏差与非线性可使它失准。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合成信息近似能否解释实际重复波动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大差异条件；仅纳入两次均通过数值检查且全参数在5%内区的被试；d＝logθA−logθB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证据：summary.json：synthetic_information_calibration；synthetic/*.json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014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94360"/>
                <a:gridCol w="1920240"/>
                <a:gridCol w="1188720"/>
                <a:gridCol w="2148840"/>
                <a:gridCol w="2148840"/>
                <a:gridCol w="21945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可用人数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平均d²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平均工作V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平均d²/V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7.41e-04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1.52e-03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1.94e-03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1.53e-03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2.38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1.35e-03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5.19e-03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2.86e-03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5.46e-03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7.54e-04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6.81e-04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1.37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2.40e-04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1.68e-03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1.96e-03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1.90e-03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V=0.05²·diag(I⁻¹A+I⁻¹B)，I为有效数据曲率。理想局部线性近似预期平均d²/V约1；正则偏差与非线性可使它失准。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实测基线：释放更多参数不保证更稳定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开发集描述；近界比例按 A/B 至少一次近界的配对计，数值通过要求两次都通过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证据：pair_metrics.csv；development/*.json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1097280"/>
                <a:gridCol w="1920240"/>
                <a:gridCol w="1920240"/>
                <a:gridCol w="182880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自由参数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登记组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59.7%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94.8%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61.1%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94.4%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112.2%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77.8%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119.8%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83.3%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22.2%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81.2%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44.4%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重复统计先在被试内平均区域，失败仍保留在登记分母。Simultaneous 是同记录辅助结果，不与独立记录混称重测。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实测基线：释放更多参数不保证更稳定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开发集描述；近界比例按 A/B 至少一次近界的配对计，数值通过要求两次都通过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证据：pair_metrics.csv；development/*.json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1097280"/>
                <a:gridCol w="1920240"/>
                <a:gridCol w="1920240"/>
                <a:gridCol w="182880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自由参数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登记组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95.7%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110.1%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94.4%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77.8%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39.6%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92.5%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117.5%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重复统计先在被试内平均区域，失败仍保留在登记分母。Simultaneous 是同记录辅助结果，不与独立记录混称重测。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参数信息会被驱动与初态的补偿抵消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A 为 log 参数灵敏度，B 为补偿量灵敏度；条件信息 AᵀA，有效数据项 Aᵀ(I−BB⁺)A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证据：development/*.json：information；fit_nonlinear_shared_parameters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25</a:t>
            </a:r>
          </a:p>
        </p:txBody>
      </p:sp>
      <p:pic>
        <p:nvPicPr>
          <p:cNvPr id="6" name="Picture 5" descr="in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581667"/>
            <a:ext cx="11064240" cy="4014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柱为开发记录 trace 比值中位数，虚线为条件参照。P3 三数据集仅保留 3.2%–3.3%；正则后曲率不是额外观测信息，也不是校准 Fisher 信息。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近界解与求解不充分是两种不同问题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每点＝开发记录中的一个 P3 参数；竖线 b=5%，横线原参数投影梯度 10⁻³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证据：development/*.json：raw_parameter_gradient / projected_raw_parameter_gradient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26</a:t>
            </a:r>
          </a:p>
        </p:txBody>
      </p:sp>
      <p:pic>
        <p:nvPicPr>
          <p:cNvPr id="6" name="Picture 5" descr="boundary_k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1007"/>
            <a:ext cx="11064239" cy="3836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边界上的向外下降方向满足约束 KKT；向内部仍能下降才支持求解不足。图底部 10⁻¹⁰ 是零值显示下限，不是新的收敛门槛。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向内下降还是向外下降，需要看梯度符号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每点＝P3 开发记录的一个近界参数（b&lt;10%）；靠下界取 +∂Q/∂θ，靠上界取 −∂Q/∂θ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证据：development/*__P3__N0.json：raw_parameter_gradient；original parameter bounds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27</a:t>
            </a:r>
          </a:p>
        </p:txBody>
      </p:sp>
      <p:pic>
        <p:nvPicPr>
          <p:cNvPr id="6" name="Picture 5" descr="inward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6487"/>
            <a:ext cx="11064240" cy="38250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负值表示向内仍可下降；正值表示局部向外更有利。各参数纵轴独立缩放；b&gt;0 的近界点仍属内点，不能直接当成精确约束边界。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最弱信息方向是参数的组合，不能逐项孤立解释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每个数据集取剖面面板内 P0 误差最接近中位数的被试；矩阵只含消去补偿量后的数据项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证据：development/*.json：information.data_only.matrix；pair_plan.profile_panel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834640"/>
                <a:gridCol w="1645920"/>
                <a:gridCol w="1645920"/>
                <a:gridCol w="164592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记录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最小/最大特征值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Δlogτ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Δlogβ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Δlogκ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0.0776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0.0672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0.1242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0.0641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0.0687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0.0703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后三列为最小特征值单位特征向量；最大绝对分量定为正。沿此组合改变参数，局部数据约束最弱；局部曲率不能替代完整剖面。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共同内点检验重新优化所有补偿量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QᵖA(θ)=minηA Q(A,θ,ηA)，B 同理；η 包含该记录全部驱动与自由初态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证据：profiles/*.json；profile_pair；profile_intersections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剖面与条件切片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每个固定参数节点重新拟合补偿量；P2/P3 在完整向量节点固定所有自由生理参数。固定原驱动的切片不用于可达性判断。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两类目标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原目标保留驱动、初态和 flow 正则，去掉新增参数共享。纯观测目标去掉这些正则，只保留原数学合法域。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共同容许集合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每条记录的目标增量 ≤0.5%、1% 或5% 的冻结 P0 目标；每模态 NRMSE 增量≤0.01；共同参数还须处于内区。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有限搜索边界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双向 warm start，单参数先9节点再加密至25；联合模型做有限网格。找到可行节点是存在性证据，未找到不证明不存在。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共享参数与进入内区是两笔不同的代价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以下最小值都是当前有限搜索中的已找到值；不宣称全局最优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证据：profile_intersections；summary.json：delta_share_reference_fraction / delta_inner_reference_fraction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先分别选择参数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独立参照＝min QᵖA＋min QᵖB。两记录可以各选自己的参数；原目标参照同时保留 N0 的更低值。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再要求一个共同向量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共同最小值＝minθ[QᵖA(θ)＋QᵖB(θ)]。θ 相同，驱动和初态仍为两份记录各自拟合。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两项差值怎么计算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Δshare＝共同最小值−独立参照。</a:t>
            </a:r>
          </a:p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Δinner＝仅在5%内区的共同最小值−全搜索范围的共同最小值。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分母、限制与跨度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代价表除以 Q0,A＋Q0,B；容差仍逐记录计算，并逐模态查误差。可行跨度是最宽参数方向在原 log 搜索范围中的占比，不是置信区间。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先检查每个剖面节点的补偿量是否优化充分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一个节点拟合＝一个参数向量下的一条记录；同组节点相互依赖，不能当作独立样本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证据：summary.json：profile_optimization；profiles/*.json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521440" cy="357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148840"/>
                <a:gridCol w="1554480"/>
                <a:gridCol w="2194560"/>
                <a:gridCol w="2011680"/>
                <a:gridCol w="210312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目标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完成组数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数值通过节点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未通过节点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通过比例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原工程目标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18/18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纯观测目标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18/18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693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77.0%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原工程目标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18/18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纯观测目标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18/18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74.3%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原工程目标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18/18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1109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99.6%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纯观测目标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18/18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817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297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原工程目标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18/18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4587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99.6%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纯观测目标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18/18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3244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1362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70.4%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未通过节点保留目标与失败信息，但不作为共同可接受内点证据。纯观测目标的未通过节点会限制“未找到”结论的强度。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Single-Trial：原工程目标的 A/B 参数剖面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例子按 P0 重建误差最接近开发中位数选取；每节点独立优化补偿量；纵轴为对称 log 刻度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证据：profiles/eeg_fnirs_single_trial__subject_08__prefrontal__P1_*__regularized.json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32</a:t>
            </a:r>
          </a:p>
        </p:txBody>
      </p:sp>
      <p:pic>
        <p:nvPicPr>
          <p:cNvPr id="6" name="Picture 5" descr="profiles_eeg_fnirs_single_trial_regular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5781"/>
            <a:ext cx="11064240" cy="4226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蓝实线/橙虚线为A/B，叉号为未通过数值检查的节点；横线是1%/5%容差，竖线是5%内区。两图纵轴独立缩放；曲线相近不等于唯一辨识。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Single-Trial：纯观测目标的 A/B 参数剖面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例子按 P0 重建误差最接近开发中位数选取；每节点独立优化补偿量；纵轴为对称 log 刻度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证据：profiles/eeg_fnirs_single_trial__subject_08__prefrontal__P1_*__obs.json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33</a:t>
            </a:r>
          </a:p>
        </p:txBody>
      </p:sp>
      <p:pic>
        <p:nvPicPr>
          <p:cNvPr id="6" name="Picture 5" descr="profiles_eeg_fnirs_single_trial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5781"/>
            <a:ext cx="11064240" cy="4226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蓝实线/橙虚线为A/B，叉号为未通过数值检查的节点；横线是1%/5%容差，竖线是5%内区。两图纵轴独立缩放；曲线相近不等于唯一辨识。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Simultaneous：原工程目标的 A/B 参数剖面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例子按 P0 重建误差最接近开发中位数选取；每节点独立优化补偿量；纵轴为对称 log 刻度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证据：profiles/simultaneous_eeg_nirs__VP006__prefrontal__P1_*__regularized.json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34</a:t>
            </a:r>
          </a:p>
        </p:txBody>
      </p:sp>
      <p:pic>
        <p:nvPicPr>
          <p:cNvPr id="6" name="Picture 5" descr="profiles_simultaneous_eeg_nirs_regular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5781"/>
            <a:ext cx="11064240" cy="4226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蓝实线/橙虚线为A/B，叉号为未通过数值检查的节点；横线是1%/5%容差，竖线是5%内区。两图纵轴独立缩放；曲线相近不等于唯一辨识。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Simultaneous：纯观测目标的 A/B 参数剖面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例子按 P0 重建误差最接近开发中位数选取；每节点独立优化补偿量；纵轴为对称 log 刻度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证据：profiles/simultaneous_eeg_nirs__VP006__prefrontal__P1_*__obs.json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35</a:t>
            </a:r>
          </a:p>
        </p:txBody>
      </p:sp>
      <p:pic>
        <p:nvPicPr>
          <p:cNvPr id="6" name="Picture 5" descr="profiles_simultaneous_eeg_nirs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5781"/>
            <a:ext cx="11064240" cy="4226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蓝实线/橙虚线为A/B，叉号为未通过数值检查的节点；横线是1%/5%容差，竖线是5%内区。两图纵轴独立缩放；曲线相近不等于唯一辨识。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Visual：原工程目标的 A/B 参数剖面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例子按 P0 重建误差最接近开发中位数选取；每节点独立优化补偿量；纵轴为对称 log 刻度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证据：profiles/visual_cognitive_motivation__S06__prefrontal__montage0__P1_*__regularized.json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36</a:t>
            </a:r>
          </a:p>
        </p:txBody>
      </p:sp>
      <p:pic>
        <p:nvPicPr>
          <p:cNvPr id="6" name="Picture 5" descr="profiles_visual_cognitive_motivation_regular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5781"/>
            <a:ext cx="11064240" cy="4226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蓝实线/橙虚线为A/B，叉号为未通过数值检查的节点；横线是1%/5%容差，竖线是5%内区。两图纵轴独立缩放；曲线相近不等于唯一辨识。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Visual：纯观测目标的 A/B 参数剖面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例子按 P0 重建误差最接近开发中位数选取；每节点独立优化补偿量；纵轴为对称 log 刻度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证据：profiles/visual_cognitive_motivation__S06__prefrontal__montage0__P1_*__obs.json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37</a:t>
            </a:r>
          </a:p>
        </p:txBody>
      </p:sp>
      <p:pic>
        <p:nvPicPr>
          <p:cNvPr id="6" name="Picture 5" descr="profiles_visual_cognitive_motivation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5781"/>
            <a:ext cx="11064240" cy="4226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蓝实线/橙虚线为A/B，叉号为未通过数值检查的节点；横线是1%/5%容差，竖线是5%内区。两图纵轴独立缩放；曲线相近不等于唯一辨识。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Single-Trial：共同内点是否被实际找到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主判据：5% 内区、每记录目标容差1%、每模态 NRMSE 容差0.01，两个补偿量优化均通过数值检查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证据：profile_intersections.json；profiles/*.json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1099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463040"/>
                <a:gridCol w="1463040"/>
                <a:gridCol w="1463040"/>
                <a:gridCol w="1554480"/>
                <a:gridCol w="1325880"/>
                <a:gridCol w="128016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原目标可行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观测项可行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共享代价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入内代价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可行跨度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仅近界组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单点组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节点不足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3.62%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12.70%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节点不足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13.94%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节点不足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两项代价均除以两记录P0目标之和；总成本小仍须逐记录逐模态通过。仅近界＝可行节点均在内区外；单点不能确定宽度。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Simultaneous：共同内点是否被实际找到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主判据：5% 内区、每记录目标容差1%、每模态 NRMSE 容差0.01，两个补偿量优化均通过数值检查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证据：profile_intersections.json；profiles/*.json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39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1099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463040"/>
                <a:gridCol w="1463040"/>
                <a:gridCol w="1463040"/>
                <a:gridCol w="1554480"/>
                <a:gridCol w="1325880"/>
                <a:gridCol w="128016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原目标可行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观测项可行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共享代价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入内代价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可行跨度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仅近界组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单点组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1.33%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3.23%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节点不足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3.82%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1.57%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节点不足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两项代价均除以两记录P0目标之和；总成本小仍须逐记录逐模态通过。仅近界＝可行节点均在内区外；单点不能确定宽度。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Visual：共同内点是否被实际找到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主判据：5% 内区、每记录目标容差1%、每模态 NRMSE 容差0.01，两个补偿量优化均通过数值检查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证据：profile_intersections.json；profiles/*.json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1099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463040"/>
                <a:gridCol w="1463040"/>
                <a:gridCol w="1463040"/>
                <a:gridCol w="1554480"/>
                <a:gridCol w="1325880"/>
                <a:gridCol w="128016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原目标可行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观测项可行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共享代价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入内代价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可行跨度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仅近界组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单点组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3.57%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节点不足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3.14%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4.52%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节点不足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两项代价均除以两记录P0目标之和；总成本小仍须逐记录逐模态通过。仅近界＝可行节点均在内区外；单点不能确定宽度。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原目标：共同内点结论随容差怎样变化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每格＝找到可行共同内点的组数/18个开发面板组；颜色使用统一0–1刻度，不是显著性或概率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证据：summary.json：profile_intersections；pair_plan.profile_panel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41</a:t>
            </a:r>
          </a:p>
        </p:txBody>
      </p:sp>
      <p:pic>
        <p:nvPicPr>
          <p:cNvPr id="6" name="Picture 5" descr="intersection_sensitivity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37" y="1463040"/>
            <a:ext cx="9947245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向右放宽目标容差，向下扩大近界排除区；每格仍要求两个补偿量优化均通过、每记录每模态 NRMSE 增量≤0.01。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纯观测目标：共同内点结论随容差怎样变化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每格＝找到可行共同内点的组数/18个开发面板组；颜色使用统一0–1刻度，不是显著性或概率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证据：summary.json：profile_intersections；pair_plan.profile_panel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42</a:t>
            </a:r>
          </a:p>
        </p:txBody>
      </p:sp>
      <p:pic>
        <p:nvPicPr>
          <p:cNvPr id="6" name="Picture 5" descr="intersection_sensitivity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37" y="1463040"/>
            <a:ext cx="9947245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向右放宽目标容差，向下扩大近界排除区；每格仍要求两个补偿量优化均通过、每记录每模态 NRMSE 增量≤0.01。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E2：更充分搜索究竟改善了多少原目标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N1＝基线与剖面搜索中已找到的最好值；只比较同一原目标，保留未通过数值检查的节点记录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证据：solver_reference.csv；followup_decisions.json；profiles/*.json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61320" cy="198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08760"/>
                <a:gridCol w="2011680"/>
                <a:gridCol w="1920240"/>
                <a:gridCol w="2011680"/>
                <a:gridCol w="15544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开发组数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目标改善中位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最大改善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节点数值通过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更好内点组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4.53%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99.6%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99.6%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改善以各记录冻结P0目标为分母。“更好内点”要求原近界解被内点改善超过1%；达到25%开发组才触发新求解器对照。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连续性降低部分重复误差，但仍须保住拟合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P2 开发结果；灰线＝一名被试的区域平均，绿色＝被试中位数；三臂观测完全相同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证据：pair_metrics.csv：development / N0,C0b,C1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44</a:t>
            </a:r>
          </a:p>
        </p:txBody>
      </p:sp>
      <p:pic>
        <p:nvPicPr>
          <p:cNvPr id="6" name="Picture 5" descr="contin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8820"/>
            <a:ext cx="11064240" cy="392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Simultaneous 重复中位95.7%→32.2%，但拟合与转移同时保住的配对为0/18。20%虚线为工程门槛；C0b改变的是初态先验数量。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W1 使用冻结工作误差协方差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源于开发数据内三折时间留出残差；每折隐藏各30 s块的连续10 s，三个模态一起隐藏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证据：development_calibration.json；crossfit/*.json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280160"/>
                <a:gridCol w="1920240"/>
                <a:gridCol w="1920240"/>
                <a:gridCol w="15544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开发坐标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AR(1)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最小特征值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最大特征值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残差点数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 M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2.833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 P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2.854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 PF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0.050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2.892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 M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0.050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2.864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 P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2.873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 PF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2.902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三模态协方差 trace 归一化为3，平均精度再归一化为1。强时间相关可能含模型失配；W1 加权损失不与 W0 直接排名。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W1 使用冻结工作误差协方差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源于开发数据内三折时间留出残差；每折隐藏各30 s块的连续10 s，三个模态一起隐藏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证据：development_calibration.json；crossfit/*.json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280160"/>
                <a:gridCol w="1920240"/>
                <a:gridCol w="1920240"/>
                <a:gridCol w="15544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开发坐标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AR(1)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最小特征值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最大特征值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残差点数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M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2.868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P0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0.872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2.845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P1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2.782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PF0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2.901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PF1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0.050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2.900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三模态协方差 trace 归一化为3，平均精度再归一化为1。强时间相关可能含模型失配；W1 加权损失不与 W0 直接排名。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重复收益需核查代价：加权臂的 EEG 误差上升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P2 开发结果；柱为每名被试区域平均后的平均配对差；纵轴统一，正值表示原始重建变差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证据：pair_metrics.csv：development / P2 / C1,W1,H4.0 versus N0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47</a:t>
            </a:r>
          </a:p>
        </p:txBody>
      </p:sp>
      <p:pic>
        <p:nvPicPr>
          <p:cNvPr id="6" name="Picture 5" descr="fidelity_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2380"/>
            <a:ext cx="11064240" cy="383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虚线为0.01容差的数值参照；真实通过规则逐记录、逐模态执行，不能用总体平均抵消局部恶化。W1 加权损失未参与此比较。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E5 的共享强度只由开发留出记录选择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λ∈{0,0.25,1,4}；同分选更弱共享，完全共享只作端点对照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证据：development_calibration.json；frozen_selection.json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训练中心 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对开发记录的原目标作 pooled 拟合，各记录驱动/初态独立。该中心是工程最优参照，不是正常生理人群均值。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尺度 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总体冻结尺度来自开发 A/B 的 log 参数交叉矩，并设0.01下限；留出记录选择时只使用源记录侧的工作尺度。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选强度而不偷看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仅用 A 建共享对象和 A 的估计，固定参数去重建 B；再反向做。最终冻结对象才使用全部开发记录。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数值与收缩边界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未通过数值检查的总体/源侧中心不参与非零强度选择。减少方差、向中心收缩本身都不是个体差异恢复成功。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共享中心本身也必须通过数值与边界检查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每个坐标分别建立共享对象；不同数据集、区域、montage 不强行合并为同一个总体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证据：development_calibration.json：models.*.pooled_fit / record_folds /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49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198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463040"/>
                <a:gridCol w="2468880"/>
                <a:gridCol w="3108960"/>
                <a:gridCol w="26517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坐标数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总体中心通过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总体及两折均通过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中心有参数近界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未通过数值检查的中心禁止用于非零强度选择。完全共享仍作为端点诊断保留，其稳定性和重建误差不能证明个体恢复。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单项改进必须同时保住拟合与转移表现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开发筛选：每名被试区域先平均，再对18名被试等权；重复收益＝N0差异−候选差异，正值较好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证据：frozen_selection.json：models.*.candidates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06424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560320"/>
                <a:gridCol w="1417320"/>
                <a:gridCol w="1417320"/>
                <a:gridCol w="1417320"/>
                <a:gridCol w="1417320"/>
                <a:gridCol w="123444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重复收益pp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拟合通过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转移通过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决定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-14.0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94.1%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工作协方差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+6.8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+0.0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98.1%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98.1%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+24.6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93.7%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工作协方差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+41.8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+4.5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76.7%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78.5%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98.9%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保留要求重复收益中位&gt;1个百分点，拟合及转移通过率均≥80%。这只是开发筛选；数值通过率≥95%等绝对资格另判。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单项改进必须同时保住拟合与转移表现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开发筛选：每名被试区域先平均，再对18名被试等权；重复收益＝N0差异−候选差异，正值较好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证据：frozen_selection.json：models.*.candidates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06424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560320"/>
                <a:gridCol w="1417320"/>
                <a:gridCol w="1417320"/>
                <a:gridCol w="1417320"/>
                <a:gridCol w="1417320"/>
                <a:gridCol w="123444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重复收益pp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拟合通过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转移通过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决定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+12.0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86.3%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工作协方差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+40.5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94.1%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+11.4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78.9%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82.2%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82.2%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连续 90 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+7.3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75.6%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工作协方差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+27.6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84.4%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不保留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+9.8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82.2%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83.0%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保留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保留要求重复收益中位&gt;1个百分点，拟合及转移通过率均≥80%。这只是开发筛选；数值通过率≥95%等绝对资格另判。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方法在评价前冻结，评价后不再调参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每个参数层次最多两项单因素改进及其组合；基线与完全共享端点同时评价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证据：frozen_selection.json：evaluation_results_read=0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198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754880"/>
                <a:gridCol w="914400"/>
                <a:gridCol w="329184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保留的单项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组合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各坐标 λ 的数量分布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无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否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{'0': 10, '0.25': 1}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无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否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{'0': 8, '4.0': 3}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无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否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{'0': 8, '1.0': 2, '4.0': 1}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否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{'0': 8, '0.25': 1, '1.0': 1, '4.0': 1}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λ分布来自开发内部选择；只有保留共享臂的层次在评价中使用它。保留不等于生理资格通过；后文“最佳”是冻结候选中的描述排名。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共享后的稳定性必须接受独立真值校准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共享强度沿用开发筛选保留的值；合成训练身份和评分身份分离，不把生成真值送入拟合器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证据：synthetic_selected_training/*.json；synthetic_selected_summary.json；synthetic_selected_estimates.csv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训练对象从哪里来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每个差异水平使用另外8名虚拟被试、各2次独立记录，拟合共享中心与对角工作尺度；原32名仅用于评分。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中心数值检查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共3个合成共享中心，2个通过数值检查。未通过中心对应的结果保留为失败诊断，不能据其宣称共享校准成功。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准确性与响应分别评价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每条记录取全部自由参数中最大的相对误差，再报告中位数/P90；参数响应斜率由被试重复平均估计与真值的log回归得到。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零差异与非零差异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零差异下斜率和真值方差比没有定义；小、大差异下需同时看误差、0.8–1.2响应斜率、方差压缩与数值失败分母。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P3：τ、β、κ：共享后的多真值恢复（零差异）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每个差异水平另用8名虚拟训练被试建立共享中心和尺度；评分仍用原32名独立虚拟被试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证据：synthetic_selected_summary.json；synthetic_vector_recovery in 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471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914400"/>
                <a:gridCol w="914400"/>
                <a:gridCol w="1371600"/>
                <a:gridCol w="1371600"/>
                <a:gridCol w="2194560"/>
                <a:gridCol w="16459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τ斜率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β斜率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κ斜率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误差中位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误差P90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方差比范围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无定义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共享 λ=0.25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无定义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共享 λ=1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无定义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共享 λ=4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—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无定义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误差取每记录最差参数；方差比＝估计/真值的被试间log方差。斜率0.8–1.2才满足响应目标。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P3：τ、β、κ：共享后的多真值恢复（小差异）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每个差异水平另用8名虚拟训练被试建立共享中心和尺度；评分仍用原32名独立虚拟被试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证据：synthetic_selected_summary.json；synthetic_vector_recovery in 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471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914400"/>
                <a:gridCol w="914400"/>
                <a:gridCol w="1371600"/>
                <a:gridCol w="1371600"/>
                <a:gridCol w="2194560"/>
                <a:gridCol w="16459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τ斜率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β斜率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κ斜率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误差中位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误差P90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方差比范围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0.88–0.96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共享 λ=0.25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25.3%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0.11–0.27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共享 λ=1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32.8%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0.02–0.11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共享 λ=4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15.2%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36.1%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0.00–0.03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误差取每记录最差参数；方差比＝估计/真值的被试间log方差。斜率0.8–1.2才满足响应目标。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P3：τ、β、κ：共享后的多真值恢复（大差异）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每个差异水平另用8名虚拟训练被试建立共享中心和尺度；评分仍用原32名独立虚拟被试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证据：synthetic_selected_summary.json；synthetic_vector_recovery in 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471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914400"/>
                <a:gridCol w="914400"/>
                <a:gridCol w="1371600"/>
                <a:gridCol w="1371600"/>
                <a:gridCol w="2194560"/>
                <a:gridCol w="16459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τ斜率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β斜率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κ斜率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误差中位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误差P90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方差比范围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分段 C0a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0.86–1.04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共享 λ=0.25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29.8%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0.48–0.85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共享 λ=1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21.4%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0.22–0.62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共享 λ=4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35.7%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64.0%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0.06–0.25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该水平共享中心未收敛，共享行仅作失败诊断。误差取每记录最差参数；方差比＝估计/真值的被试间log方差。斜率0.8–1.2才满足响应目标。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Single-Trial：冻结候选中可达到的最好结果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不同原生记录的主评价；各模型第一行基线，第二行按有效配对率优先排名的候选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证据：summary.json：groups；pair_metrics.csv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240280"/>
                <a:gridCol w="1280160"/>
                <a:gridCol w="1234440"/>
                <a:gridCol w="1280160"/>
                <a:gridCol w="1234440"/>
                <a:gridCol w="1234440"/>
                <a:gridCol w="13258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重复P90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HbO误差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HbR误差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有效配对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51.5%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85.3%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47.8%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0.230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8/69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51.5%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85.3%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47.8%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0.230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8/69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69.0%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56.5%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0.188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5/69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69.0%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56.5%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0.188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5/69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92.8%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112.4%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0.175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0.168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92.8%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112.4%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0.175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0.168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106.2%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141.1%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98.6%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0.172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0.168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106.2%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141.1%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98.6%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0.172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0.168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近界＝A/B至少一次有自由参数进入5%近界区；误差＝开发SD归一化NRMSE。有效配对还要求数值、重复、逐记录拟合及转移全部通过。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Single-Trial：稳定、内点与有效配对的折中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每点＝一个冻结候选；点面积随有效配对率增加，形状对应自由参数层次；完全共享不参与个体排名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证据：summary.json：evaluation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58</a:t>
            </a:r>
          </a:p>
        </p:txBody>
      </p:sp>
      <p:pic>
        <p:nvPicPr>
          <p:cNvPr id="6" name="Picture 5" descr="tradeoff_eeg_fnirs_single_t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7240"/>
            <a:ext cx="11064240" cy="41835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左下方较好，但仅靠图上位置仍不足以证明生理恢复；需同时核对原始拟合、参数转移、合成响应与未加参数先验的剖面。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Simultaneous：冻结候选中可达到的最好结果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同记录不重叠块的辅助评价；各模型第一行基线，第二行按有效配对率优先排名的候选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证据：summary.json：groups；pair_metrics.csv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59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240280"/>
                <a:gridCol w="1280160"/>
                <a:gridCol w="1234440"/>
                <a:gridCol w="1280160"/>
                <a:gridCol w="1234440"/>
                <a:gridCol w="1234440"/>
                <a:gridCol w="13258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重复P90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HbO误差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HbR误差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有效配对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74.4%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0.428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0.480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12/60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74.4%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0.428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0.480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12/60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74.3%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131.9%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58.3%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0.408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0.448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7/60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74.3%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131.9%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58.3%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0.408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0.448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7/60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85.0%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144.8%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0.345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0.379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85.0%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144.8%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0.345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0.379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116.7%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159.5%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0.337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0.393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87.5%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123.2%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0.341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0.408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0/60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近界＝A/B至少一次有自由参数进入5%近界区；误差＝开发SD归一化NRMSE。有效配对还要求数值、重复、逐记录拟合及转移全部通过。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Simultaneous：稳定、内点与有效配对的折中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每点＝一个冻结候选；点面积随有效配对率增加，形状对应自由参数层次；完全共享不参与个体排名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证据：summary.json：evaluation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60</a:t>
            </a:r>
          </a:p>
        </p:txBody>
      </p:sp>
      <p:pic>
        <p:nvPicPr>
          <p:cNvPr id="6" name="Picture 5" descr="tradeoff_simultaneous_eeg_n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7240"/>
            <a:ext cx="11064240" cy="41835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左下方较好，但仅靠图上位置仍不足以证明生理恢复；需同时核对原始拟合、参数转移、合成响应与未加参数先验的剖面。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Visual：冻结候选中可达到的最好结果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不同原生记录的主评价；各模型第一行基线，第二行按有效配对率优先排名的候选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证据：summary.json：groups；pair_metrics.csv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15600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240280"/>
                <a:gridCol w="1280160"/>
                <a:gridCol w="1234440"/>
                <a:gridCol w="1280160"/>
                <a:gridCol w="1234440"/>
                <a:gridCol w="1234440"/>
                <a:gridCol w="13258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重复P90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HbO误差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HbR误差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有效配对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42.0%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62.7%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54.3%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7/35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42.0%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62.7%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54.3%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7/35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39.0%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69.6%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5/35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39.0%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69.6%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5/35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83.1%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57.1%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0/35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83.1%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57.1%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0/35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103.8%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130.3%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97.1%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0/35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72.4%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95.4%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97.1%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0/35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近界＝A/B至少一次有自由参数进入5%近界区；误差＝开发SD归一化NRMSE。有效配对还要求数值、重复、逐记录拟合及转移全部通过。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Visual：稳定、内点与有效配对的折中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每点＝一个冻结候选；点面积随有效配对率增加，形状对应自由参数层次；完全共享不参与个体排名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证据：summary.json：evaluation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62</a:t>
            </a:r>
          </a:p>
        </p:txBody>
      </p:sp>
      <p:pic>
        <p:nvPicPr>
          <p:cNvPr id="6" name="Picture 5" descr="tradeoff_visual_cognitive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7240"/>
            <a:ext cx="11064240" cy="41835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左下方较好，但仅靠图上位置仍不足以证明生理恢复；需同时核对原始拟合、参数转移、合成响应与未加参数先验的剖面。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 的同记录块保留为独立的辅助结果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这些候选身份没有满足配对条件的两条独立原生记录；不把区域或窗口当作更多被试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证据：summary.json：evaluation / Visual / within_record_disjoint_blocks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01852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606040"/>
                <a:gridCol w="960120"/>
                <a:gridCol w="1097280"/>
                <a:gridCol w="1600200"/>
                <a:gridCol w="1600200"/>
                <a:gridCol w="15544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登记组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有效配对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83.9%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0/15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39.3%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86.7%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0/15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84.0%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0/15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88.0%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0/15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98.7%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0/15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本页与前页使用同一冻结坐标、方法和评分规则，但评价的是短时块稳定性。不得把这三名被试加入独立记录ICC的分母。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Single-Trial：区域平均是否掩盖了局部较好结果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仅作事后描述：各参数层次按有效配对率优先、重复差异其次，列出观察最佳坐标及冻结方法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证据：summary.json：coordinate_groups；pair_metrics.csv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737360"/>
                <a:gridCol w="2377440"/>
                <a:gridCol w="685800"/>
                <a:gridCol w="1280160"/>
                <a:gridCol w="1280160"/>
                <a:gridCol w="1234440"/>
                <a:gridCol w="13258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区域/坐标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有效配对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记录数值通过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后部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51.2%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30.4%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5/23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95.7%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后部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55.5%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52.2%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2/23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97.8%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后部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84.2%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60.9%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93.5%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前额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95.4%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95.7%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0/23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84.8%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同一坐标的被试才可直接比较；小人数及观察排序均限制推广。局部较好不能替代完整参数向量、真值响应与独立确认。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Simultaneous：区域平均是否掩盖了局部较好结果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仅作事后描述：各参数层次按有效配对率优先、重复差异其次，列出观察最佳坐标及冻结方法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证据：summary.json：coordinate_groups；pair_metrics.csv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737360"/>
                <a:gridCol w="2377440"/>
                <a:gridCol w="685800"/>
                <a:gridCol w="1280160"/>
                <a:gridCol w="1280160"/>
                <a:gridCol w="1234440"/>
                <a:gridCol w="13258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区域/坐标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有效配对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记录数值通过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后部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17.8%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5/20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前额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103.2%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3/20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92.5%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后部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56.3%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97.5%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运动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25.7%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95.0%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95.0%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同一坐标的被试才可直接比较；小人数及观察排序均限制推广。局部较好不能替代完整参数向量、真值响应与独立确认。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Visual：区域平均是否掩盖了局部较好结果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仅作事后描述：各参数层次按有效配对率优先、重复差异其次，列出观察最佳坐标及冻结方法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证据：summary.json：coordinate_groups；pair_metrics.csv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737360"/>
                <a:gridCol w="2377440"/>
                <a:gridCol w="685800"/>
                <a:gridCol w="1280160"/>
                <a:gridCol w="1280160"/>
                <a:gridCol w="1234440"/>
                <a:gridCol w="13258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层次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区域/坐标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重复中位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近界配对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有效配对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记录数值通过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前额 M0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13.6%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28.6%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3/7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前额 M0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32.5%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14.3%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2/7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后部 M0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42.9%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运动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16.1%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0/7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45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85.7%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同一坐标的被试才可直接比较；小人数及观察排序均限制推广。局部较好不能替代完整参数向量、真值响应与独立确认。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Single-Trial：独立估计的 τ、β 是否一致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prefrontal；方法：基线 N0。每点＝该坐标的一名评价被试，黑虚线为A=B；对数坐标保留原搜索范围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证据：parameter_estimates.csv；frozen_selection.json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67</a:t>
            </a:r>
          </a:p>
        </p:txBody>
      </p:sp>
      <p:pic>
        <p:nvPicPr>
          <p:cNvPr id="6" name="Picture 5" descr="retest_eeg_fnirs_single_trial_P2_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8248"/>
            <a:ext cx="11064240" cy="38215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三角表示至少一次近界，叉号表示数值检查未通过。P2 的判断要求 τ 与 β 同时达标，不能只选择散点更集中的参数。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Simultaneous：独立估计的 τ、β 是否一致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prefrontal；方法：基线 N0。每点＝该坐标的一名评价被试，黑虚线为A=B；对数坐标保留原搜索范围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证据：parameter_estimates.csv；frozen_selection.json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68</a:t>
            </a:r>
          </a:p>
        </p:txBody>
      </p:sp>
      <p:pic>
        <p:nvPicPr>
          <p:cNvPr id="6" name="Picture 5" descr="retest_simultaneous_eeg_nirs_P2_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8248"/>
            <a:ext cx="11064240" cy="38215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三角表示至少一次近界，叉号表示数值检查未通过。P2 的判断要求 τ 与 β 同时达标，不能只选择散点更集中的参数。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Visual：独立估计的 τ、β 是否一致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prefrontal__montage0；方法：基线 N0。每点＝该坐标的一名评价被试，黑虚线为A=B；对数坐标保留原搜索范围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证据：parameter_estimates.csv；frozen_selection.json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69</a:t>
            </a:r>
          </a:p>
        </p:txBody>
      </p:sp>
      <p:pic>
        <p:nvPicPr>
          <p:cNvPr id="6" name="Picture 5" descr="retest_visual_cognitive_motivation_P2_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8248"/>
            <a:ext cx="11064240" cy="38215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三角表示至少一次近界，叉号表示数值检查未通过。P2 的判断要求 τ 与 β 同时达标，不能只选择散点更集中的参数。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近界判断不依赖“是否恰好等于边界”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冻结候选中的观察最佳结果；A/B任一次、任一自由参数满足条件即记该配对近界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证据：summary.json：groups；pair_metrics.csv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33856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743200"/>
                <a:gridCol w="1463040"/>
                <a:gridCol w="1463040"/>
                <a:gridCol w="1463040"/>
                <a:gridCol w="146304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精确贴边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1%近界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5%近界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10%近界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46.4%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46.4%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47.8%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52.2%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53.6%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53.6%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56.5%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63.8%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68.1%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79.7%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95.7%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95.7%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98.6%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46.7%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53.3%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55.0%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58.3%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精确贴边按 b&lt;10⁻⁸ 的浮点容差判断。5%是本轮主定义；改变操作阈值不会把搜索范围变成人群正常区间。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近界判断不依赖“是否恰好等于边界”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冻结候选中的观察最佳结果；A/B任一次、任一自由参数满足条件即记该配对近界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证据：summary.json：groups；pair_metrics.csv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33856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743200"/>
                <a:gridCol w="1463040"/>
                <a:gridCol w="1463040"/>
                <a:gridCol w="1463040"/>
                <a:gridCol w="146304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精确贴边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1%近界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5%近界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10%近界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85.0%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96.7%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51.4%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54.3%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54.3%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62.9%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48.6%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54.3%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54.3%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57.1%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65.7%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91.4%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97.1%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97.1%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100.0%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精确贴边按 b&lt;10⁻⁸ 的浮点容差判断。5%是本轮主定义；改变操作阈值不会把搜索范围变成人群正常区间。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P3：τ、β、κ：候选相对基线的配对差值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开发选择的共享；差值＝候选−N0，负值较好；先区域平均，再对被试均值差作配对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证据：summary.json：paired_method_differences；pair_metrics.csv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396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371600"/>
                <a:gridCol w="2103120"/>
                <a:gridCol w="411480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指标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被试数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平均差值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95%区间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重复差异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[0.000, 0.000]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HbO误差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[0.000, 0.000]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HbR误差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[0.000, 0.000]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重复差异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-0.258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[-0.334, -0.178]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HbO误差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[-0.004, 0.013]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HbR误差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0.015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[-0.007, 0.034]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重复差异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-0.238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[-0.350, -0.123]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HbO误差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[-0.005, 0.005]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HbR误差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[-0.001, 0.004]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重复差异使用比例值，0.01为1个百分点；误差使用开发SD单位。区间条件于冻结训练对象，未作多重比较校正，不宣称确认性优势。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Simultaneous：共享改变了哪些 A/B 参数估计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motor，λ=1；每个点是一名被试的一种方法；灰线连接同一被试，黑虚线A=B；原搜索范围统一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证据：parameter_estimates.csv；frozen_selection.json；evaluation/*.json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73</a:t>
            </a:r>
          </a:p>
        </p:txBody>
      </p:sp>
      <p:pic>
        <p:nvPicPr>
          <p:cNvPr id="6" name="Picture 5" descr="sharing_retest_simultaneous_eeg_nirs_motor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2865"/>
            <a:ext cx="11064239" cy="4232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各分量重复差异中位：τ73.3%→10.5%；β102.2%→7.1%；κ11.9%→0.0%。空心标记按当前分量判断；整个向量仍要求所有参数一起通过。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Visual：共享改变了哪些 A/B 参数估计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motor，λ=4；每个点是一名被试的一种方法；灰线连接同一被试，黑虚线A=B；原搜索范围统一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证据：parameter_estimates.csv；frozen_selection.json；evaluation/*.json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74</a:t>
            </a:r>
          </a:p>
        </p:txBody>
      </p:sp>
      <p:pic>
        <p:nvPicPr>
          <p:cNvPr id="6" name="Picture 5" descr="sharing_retest_visual_cognitive_motivation_motor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2865"/>
            <a:ext cx="11064239" cy="4232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各分量重复差异中位：τ42.9%→16.1%；β42.6%→14.8%；κ98.9%→0.3%。空心标记按当前分量判断；整个向量仍要求所有参数一起通过。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Visual：共享改变了哪些 A/B 参数估计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prefrontal__montage0，λ=0.25；每个点是一名被试的一种方法；灰线连接同一被试，黑虚线A=B；原搜索范围统一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证据：parameter_estimates.csv；frozen_selection.json；evaluation/*.json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75</a:t>
            </a:r>
          </a:p>
        </p:txBody>
      </p:sp>
      <p:pic>
        <p:nvPicPr>
          <p:cNvPr id="6" name="Picture 5" descr="sharing_retest_visual_cognitive_motivation_prefrontal__montage0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2865"/>
            <a:ext cx="11064239" cy="4232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各分量重复差异中位：τ26.3%→28.0%；β25.7%→24.5%；κ66.4%→14.2%。空心标记按当前分量判断；整个向量仍要求所有参数一起通过。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共享后的局部约束有多少来自新增先验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仅接受记录、λ&gt;0坐标；各log参数方向的有效Gauss–Newton对角曲率，先记录平均，再被试等权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证据：summary.json：sharing_information_budget；evaluation/*.json；development_calibration.json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640080"/>
                <a:gridCol w="640080"/>
                <a:gridCol w="731520"/>
                <a:gridCol w="1691640"/>
                <a:gridCol w="2011680"/>
                <a:gridCol w="26974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数据集/坐标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λ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数据份额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原正则增量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新增共享份额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 运动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40.3%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15.2%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44.6%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 运动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5.7%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82.9%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 运动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71.6%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运动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99.3%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运动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17.4%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33.4%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49.2%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总曲率＝原正则下有效曲率＋λ/Ω；原正则增量＝前者−纯数据有效曲率。这些局部份额不表示全局辨识概率或生理真实性。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共享后的局部约束有多少来自新增先验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仅接受记录、λ&gt;0坐标；各log参数方向的有效Gauss–Newton对角曲率，先记录平均，再被试等权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证据：summary.json：sharing_information_budget；evaluation/*.json；development_calibration.json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198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640080"/>
                <a:gridCol w="640080"/>
                <a:gridCol w="731520"/>
                <a:gridCol w="1691640"/>
                <a:gridCol w="2011680"/>
                <a:gridCol w="26974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数据集/坐标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λ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数据份额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原正则增量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新增共享份额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运动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67.2%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前额 M0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37.9%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53.0%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前额 M0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45.9%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49.3%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前额 M0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31.5%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2.5%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总曲率＝原正则下有效曲率＋λ/Ω；原正则增量＝前者−纯数据有效曲率。这些局部份额不表示全局辨识概率或生理真实性。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共享是否压低了实测中的个体差异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仅显示冻结λ&gt;0的坐标；每个参数单列；方差来自被试A/B的log参数平均，包含未收敛的有限估计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证据：summary.json：parameter_distributions；parameter_estimates.csv；frozen_selection.json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4712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94360"/>
                <a:gridCol w="685800"/>
                <a:gridCol w="777240"/>
                <a:gridCol w="1280160"/>
                <a:gridCol w="2103120"/>
                <a:gridCol w="26974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数据集/坐标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λ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方差比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原重复差异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共享后差异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 运动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11.9%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 运动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102.2%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7.1%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 运动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73.3%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10.5%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运动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98.9%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运动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42.6%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14.8%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方差比＝共享后/N0，重复差异为该坐标被试中位数。方差变小本身不证明真实差异被保留；需与多真值恢复斜率共同判断。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共享是否压低了实测中的个体差异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仅显示冻结λ&gt;0的坐标；每个参数单列；方差来自被试A/B的log参数平均，包含未收敛的有限估计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证据：summary.json：parameter_distributions；parameter_estimates.csv；frozen_selection.json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79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47120" cy="1984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94360"/>
                <a:gridCol w="685800"/>
                <a:gridCol w="777240"/>
                <a:gridCol w="1280160"/>
                <a:gridCol w="2103120"/>
                <a:gridCol w="26974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数据集/坐标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λ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人数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方差比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原重复差异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共享后差异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运动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42.9%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16.1%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前额 M0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66.4%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14.2%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前额 M0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0.71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25.7%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24.5%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Visual 前额 M0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26.3%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28.0%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方差比＝共享后/N0，重复差异为该坐标被试中位数。方差变小本身不证明真实差异被保留；需与多真值恢复斜率共同判断。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Single-Trial：目前能给出的具体参数数值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固定前额坐标；A/B 中位数分别计算；区间为被试 A/B 几何均值的 P10–P90，包含未收敛有限解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证据：summary.json：parameter_distributions；parameter_estimates.csv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33856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640080"/>
                <a:gridCol w="1097280"/>
                <a:gridCol w="1097280"/>
                <a:gridCol w="3108960"/>
                <a:gridCol w="21945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A 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B 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个体 P10–P90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完全共享值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2.552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2.024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1.033–3.949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2.085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1.107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2.267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0.157–4.318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1.477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1.955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2.136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0.237–7.926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2.048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3.219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2.792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1.290–5.743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3.115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0.200–0.779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1.565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1.609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0.311–5.368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1.578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3.685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2.404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1.182–5.414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3.623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τ 单位秒，κ 单位 s⁻¹；β 是冻结坐标中的有效增益。这里是条件拟合分布，不是正常区间、精度区间或真实生理范围。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Single-Trial：固定参数也能重建到什么程度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开发SD归一化误差；先记录平均、被试内区域平均、再被试等权平均；转移重新估计目标记录驱动与初态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证据：summary.json：groups；evaluation/*.json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92840" cy="396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508760"/>
                <a:gridCol w="1508760"/>
                <a:gridCol w="1508760"/>
                <a:gridCol w="1645920"/>
                <a:gridCol w="164592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EEG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HbO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HbR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转移HbO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转移HbR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P0 固定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0.246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0.246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0.177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0.230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0.233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0.231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0.231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0.145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0.188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0.150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0.175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0.168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0.189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0.184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0.140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0.172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0.168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0.185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完全共享的重复差异为零但不提供个体差异。误差接近不等于参数准确，也可能反映补偿量可以解释大部分观测。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Simultaneous：目前能给出的具体参数数值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固定前额坐标；A/B 中位数分别计算；区间为被试 A/B 几何均值的 P10–P90，包含未收敛有限解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证据：summary.json：parameter_distributions；parameter_estimates.csv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33856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640080"/>
                <a:gridCol w="1097280"/>
                <a:gridCol w="1097280"/>
                <a:gridCol w="3108960"/>
                <a:gridCol w="21945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A 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B 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个体 P10–P90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完全共享值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3.828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4.296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2.503–5.863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3.790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0.724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2.022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0.339–5.370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1.249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1.202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4.191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0.524–9.832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3.649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3.252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6.813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2.202–8.000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7.498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0.437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0.206–0.635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1.365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3.121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0.395–8.365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2.849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3.559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7.735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2.012–8.000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7.985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τ 单位秒，κ 单位 s⁻¹；β 是冻结坐标中的有效增益。这里是条件拟合分布，不是正常区间、精度区间或真实生理范围。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Simultaneous：固定参数也能重建到什么程度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开发SD归一化误差；先记录平均、被试内区域平均、再被试等权平均；转移重新估计目标记录驱动与初态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证据：summary.json：groups；evaluation/*.json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92840" cy="396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508760"/>
                <a:gridCol w="1508760"/>
                <a:gridCol w="1508760"/>
                <a:gridCol w="1645920"/>
                <a:gridCol w="164592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EEG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HbO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HbR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转移HbO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转移HbR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P0 固定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0.342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0.458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0.540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0.458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0.540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0.328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0.428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0.480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0.445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0.339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0.440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0.540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0.440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0.540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0.292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0.408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0.448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0.473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0.380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0.419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0.492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0.419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0.492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0.306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0.345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0.379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0.376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0.415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0.381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0.380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0.506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0.380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0.506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0.292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0.337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0.393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0.375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0.379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0.494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0.369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0.494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完全共享的重复差异为零但不提供个体差异。误差接近不等于参数准确，也可能反映补偿量可以解释大部分观测。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Visual：目前能给出的具体参数数值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固定前额坐标；A/B 中位数分别计算；区间为被试 A/B 几何均值的 P10–P90，包含未收敛有限解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证据：summary.json：parameter_distributions；parameter_estimates.csv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33856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640080"/>
                <a:gridCol w="1097280"/>
                <a:gridCol w="1097280"/>
                <a:gridCol w="3108960"/>
                <a:gridCol w="21945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A 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B 中位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个体 P10–P90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完全共享值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1.380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1.246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0.613–2.931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1.086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3.418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3.456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0.619–4.934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2.317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2.897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2.820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0.738–4.474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2.032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1.488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1.434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0.799–2.471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1.439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0.200–0.271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2.107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2.113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0.590–2.877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1.294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1.794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1.278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0.787–2.675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1.324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τ 单位秒，κ 单位 s⁻¹；β 是冻结坐标中的有效增益。这里是条件拟合分布，不是正常区间、精度区间或真实生理范围。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Visual：固定参数也能重建到什么程度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开发SD归一化误差；先记录平均、被试内区域平均、再被试等权平均；转移重新估计目标记录驱动与初态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证据：summary.json：groups；evaluation/*.json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292840" cy="396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508760"/>
                <a:gridCol w="1508760"/>
                <a:gridCol w="1508760"/>
                <a:gridCol w="1645920"/>
                <a:gridCol w="164592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EEG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HbO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HbR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转移HbO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转移HbR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P0 固定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0.302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0.302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0.296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0.270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0.270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0.245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0.260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0.201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0.244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完全共享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0.270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完全共享的重复差异为零但不提供个体差异。误差接近不等于参数准确，也可能反映补偿量可以解释大部分观测。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Single-Trial：ICC 需结合配对数和区间阅读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仅展示固定前额坐标；log 参数绝对一致性 ICC(A,1)，95% 被试百分位 bootstrap 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证据：summary.json：icc；parameter_estimates.csv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61319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77240"/>
                <a:gridCol w="3749039"/>
                <a:gridCol w="1371600"/>
                <a:gridCol w="1097280"/>
                <a:gridCol w="26517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可用/登记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ICC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95%区间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23/23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[-0.13, 0.50]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22/23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[0.11, 0.81]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21/23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[-0.15, 0.79]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21/23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[-0.09, 0.59]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16/23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[-0.38, 0.38]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16/23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[-0.34, 0.65]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16/23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[-0.15, 0.71]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ICC 使用两次均通过数值检查的配对；失败分母另由有效配对率保留。区间条件于冻结训练对象，未宣称多候选显著性优势。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Simultaneous：ICC 需结合配对数和区间阅读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仅展示固定前额坐标；log 参数绝对一致性 ICC(A,1)，95% 被试百分位 bootstrap 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证据：summary.json：icc；parameter_estimates.csv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61319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77240"/>
                <a:gridCol w="3749039"/>
                <a:gridCol w="1371600"/>
                <a:gridCol w="1097280"/>
                <a:gridCol w="26517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可用/登记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ICC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95%区间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17/20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[-0.31, 0.49]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17/20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[-0.03, 0.67]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16/20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[0.06, 0.71]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16/20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[0.23, 0.78]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12/20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[-0.57, 0.45]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12/20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[0.06, 0.68]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12/20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[-0.15, 0.65]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ICC 使用两次均通过数值检查的配对；失败分母另由有效配对率保留。区间条件于冻结训练对象，未宣称多候选显著性优势。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Visual：ICC 需结合配对数和区间阅读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仅展示固定前额坐标；log 参数绝对一致性 ICC(A,1)，95% 被试百分位 bootstrap 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证据：summary.json：icc；parameter_estimates.csv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0561319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77240"/>
                <a:gridCol w="3749039"/>
                <a:gridCol w="1371600"/>
                <a:gridCol w="1097280"/>
                <a:gridCol w="265176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参数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可用/登记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ICC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95%区间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7/7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0.68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[0.35, 0.86]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7/7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[0.50, 0.87]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6/7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[0.31, 0.90]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基线 N0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6/7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[-0.21, 0.70]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κ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6/7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-0.36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[-0.73, 0.00]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β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6/7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[0.46, 0.99]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开发选择的共享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6/7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0.50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[-0.37, 0.65]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ICC 使用两次均通过数值检查的配对；失败分母另由有效配对率保留。区间条件于冻结训练对象，未宣称多候选显著性优势。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Single-Trial：典型片段 A 的观测与完整重建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例子：前额坐标、基线Hb误差最接近评价中位数；灰线为30 s边界；每个模态独立纵轴缩放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证据：evaluation/eeg_fnirs_single_trial__subject_13__prefrontal__P2__N0.json；fits/*.npz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89</a:t>
            </a:r>
          </a:p>
        </p:txBody>
      </p:sp>
      <p:pic>
        <p:nvPicPr>
          <p:cNvPr id="6" name="Picture 5" descr="waveform_eeg_fnirs_single_trial_P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66" y="1463040"/>
            <a:ext cx="11020386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误差最大的是HbO（NRMSE=0.226）；观测主极值1.50SD@21.5s，预测主极值1.23SD@26.5s。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Single-Trial：典型片段 B 的观测与完整重建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例子：前额坐标、基线Hb误差最接近评价中位数；灰线为30 s边界；每个模态独立纵轴缩放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证据：evaluation/eeg_fnirs_single_trial__subject_13__prefrontal__P2__N0.json；fits/*.npz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90</a:t>
            </a:r>
          </a:p>
        </p:txBody>
      </p:sp>
      <p:pic>
        <p:nvPicPr>
          <p:cNvPr id="6" name="Picture 5" descr="waveform_eeg_fnirs_single_trial_P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73" y="1463040"/>
            <a:ext cx="11010172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误差最大的是EEG（NRMSE=0.283）；观测主极值1.91SD@14.8s，预测主极值1.93SD@19.2s。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Single-Trial：核验典型曲线的幅度、偏移与时间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同一对示例；主极值＝绝对幅值最大的有符号点，格式为开发SD单位的幅度 @ 片段内秒数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证据：evaluation/eeg_fnirs_single_trial__subject_13__prefrontal__P2__N0.json；fits/*.npz；prepared/*.npz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645920"/>
                <a:gridCol w="2788920"/>
                <a:gridCol w="278892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片段/模态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NRMSE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相关r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平均偏差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观测主极值@秒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预测主极值@秒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 EEG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0.026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2.19 @ 0.0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2.20 @ 0.0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 HbO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0.226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-0.006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1.50 @ 21.5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1.23 @ 26.5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 HbR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0.179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0.71 @ 40.2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-0.51 @ 30.0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 EEG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0.021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1.91 @ 14.8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1.93 @ 19.2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 HbO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0.216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-1.23 @ 18.0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-1.17 @ 15.8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 HbR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0.182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-0.004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-1.37 @ 86.0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-1.46 @ 83.2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平均偏差＝预测−观测，单位为开发SD。相关只描述波形同步程度，不能替代幅度误差；两次记录的误差也不能证明参数为生理真值。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Simultaneous：典型片段 A 的观测与完整重建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例子：前额坐标、基线Hb误差最接近评价中位数；灰线为30 s边界；每个模态独立纵轴缩放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证据：evaluation/simultaneous_eeg_nirs__VP010__prefrontal__P2__N0.json；fits/*.npz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92</a:t>
            </a:r>
          </a:p>
        </p:txBody>
      </p:sp>
      <p:pic>
        <p:nvPicPr>
          <p:cNvPr id="6" name="Picture 5" descr="waveform_simultaneous_eeg_nirs_P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03" y="1463040"/>
            <a:ext cx="11014113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误差最大的是EEG（NRMSE=0.475）；观测主极值2.21SD@76.2s，预测主极值2.53SD@85.8s。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Simultaneous：典型片段 B 的观测与完整重建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例子：前额坐标、基线Hb误差最接近评价中位数；灰线为30 s边界；每个模态独立纵轴缩放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证据：evaluation/simultaneous_eeg_nirs__VP010__prefrontal__P2__N0.json；fits/*.npz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93</a:t>
            </a:r>
          </a:p>
        </p:txBody>
      </p:sp>
      <p:pic>
        <p:nvPicPr>
          <p:cNvPr id="6" name="Picture 5" descr="waveform_simultaneous_eeg_nirs_P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94" y="1463040"/>
            <a:ext cx="1102433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误差最大的是EEG（NRMSE=0.299）；观测主极值2.10SD@32.8s，预测主极值2.19SD@26.8s。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Simultaneous：核验典型曲线的幅度、偏移与时间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同一对示例；主极值＝绝对幅值最大的有符号点，格式为开发SD单位的幅度 @ 片段内秒数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证据：evaluation/simultaneous_eeg_nirs__VP010__prefrontal__P2__N0.json；fits/*.npz；prepared/*.npz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645920"/>
                <a:gridCol w="2788920"/>
                <a:gridCol w="278892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片段/模态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NRMSE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相关r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平均偏差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观测主极值@秒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预测主极值@秒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 EEG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0.475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2.21 @ 76.2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2.53 @ 85.8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 HbO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0.361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-0.000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8.73 @ 47.2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8.01 @ 48.5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 HbR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0.356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0.034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-6.45 @ 58.2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-6.40 @ 49.8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 EEG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0.299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0.89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-0.004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2.10 @ 32.8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2.19 @ 26.8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 HbO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0.277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0.012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2.59 @ 83.5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2.05 @ 85.2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 HbR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2.99 @ 77.8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3.42 @ 79.0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平均偏差＝预测−观测，单位为开发SD。相关只描述波形同步程度，不能替代幅度误差；两次记录的误差也不能证明参数为生理真值。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Visual：典型片段 A 的观测与完整重建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例子：前额坐标、基线Hb误差最接近评价中位数；灰线为30 s边界；每个模态独立纵轴缩放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证据：evaluation/visual_cognitive_motivation__S11__prefrontal__montage0__P2__N0.json；fits/*.npz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95</a:t>
            </a:r>
          </a:p>
        </p:txBody>
      </p:sp>
      <p:pic>
        <p:nvPicPr>
          <p:cNvPr id="6" name="Picture 5" descr="waveform_visual_cognitive_motivation_P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66" y="1463040"/>
            <a:ext cx="11020386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误差最大的是HbO（NRMSE=0.290）；观测主极值-2.66SD@80.8s，预测主极值2.14SD@13.5s。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Visual：典型片段 B 的观测与完整重建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例子：前额坐标、基线Hb误差最接近评价中位数；灰线为30 s边界；每个模态独立纵轴缩放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证据：evaluation/visual_cognitive_motivation__S11__prefrontal__montage0__P2__N0.json；fits/*.npz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96</a:t>
            </a:r>
          </a:p>
        </p:txBody>
      </p:sp>
      <p:pic>
        <p:nvPicPr>
          <p:cNvPr id="6" name="Picture 5" descr="waveform_visual_cognitive_motivation_P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66" y="1463040"/>
            <a:ext cx="11020386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806440"/>
            <a:ext cx="10972800" cy="585216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误差最大的是EEG（NRMSE=0.283）；观测主极值-2.53SD@59.8s，预测主极值-2.53SD@59.8s。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Visual：核验典型曲线的幅度、偏移与时间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同一对示例；主极值＝绝对幅值最大的有符号点，格式为开发SD单位的幅度 @ 片段内秒数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证据：evaluation/visual_cognitive_motivation__S11__prefrontal__montage0__P2__N0.json；fits/*.npz；prepared/*.npz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2778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645920"/>
                <a:gridCol w="2788920"/>
                <a:gridCol w="278892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片段/模态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NRMSE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相关r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平均偏差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观测主极值@秒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预测主极值@秒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 EEG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0.241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0.97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0.025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-2.36 @ 6.5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-2.32 @ 76.0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 HbO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0.290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-2.66 @ 80.8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2.14 @ 13.5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A HbR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0.095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0.003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1.20 @ 44.2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1.15 @ 50.8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 EEG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0.95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-0.012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-2.53 @ 59.8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-2.53 @ 59.8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 HbO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0.281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0.96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0.019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-3.43 @ 87.8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-3.11 @ 25.5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 HbR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0.196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0.91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1.17 @ 87.0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0.99 @ 86.2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平均偏差＝预测−观测，单位为开发SD。相关只描述波形同步程度，不能替代幅度误差；两次记录的误差也不能证明参数为生理真值。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对当前数据最有用的结论与下一步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最佳数值结果、可重复有效参数和个体生理真实性是三个不同层次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证据：summary.json；profile_intersections.json；verification.json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Single-Trial（独立记录评价）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观察排名最高为P1_tau／N0：重复差异中位51.5%，5%近界配对47.8%，有效配对8/69。不能据此认定个体生理真值已恢复。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Simultaneous（同记录辅助证据）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观察排名最高为P1_tau／N0：重复差异中位45.5%，5%近界配对45.0%，有效配对12/60。不能据此认定个体生理真值已恢复。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Visual：局部τ是待验证候选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前额 M0单τ的重复差异中位13.6%、有效配对3/7，近界28.6%。仅7人；需独立复验，不能外推为普遍个体生理精度。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后续用途与优先级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保留条件重建和带失败标记的参数摘要；个体生理解释仍需独立约束。先解决共同内点与差异恢复问题，再扩大自由参数或推广强共享。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执行、数值与证据边界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所有正式计算在用户级 systemd 下执行；失败与软件恢复记录保留，报告不替代 owning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证据：resources.json；software_recovery_*.json；source_snapshots/；verification.json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资源与恢复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52 个物理核；拟合48个单线程进程，原生数据准备16进程。任务逐项保存，可恢复；两个软件问题的原失败记录保留。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独立核验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核验7936条结果；拟合器通过解全部在8子步合法。其中2条因积分精度不足排除资格；余7580条最大差8.8e-05开发SD。评分重算差为0。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未执行与条件分支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N2新求解器未触发；连续长度扩展未触发；未保留的单项不进入评价，也无组合臂。未训练tokenizer或执行其他协议的受保护评价。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保留证据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配置、身份配对、开发变换、逐项结果、剖面、评分表、运行日志及代码快照均在同一 run 下。PPT/PDF 是沟通导出。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两条对照记录因积分精度不足而不计为合格解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4→8子步最大逐点变化超过0.001开发SD；原始拟合、原始失败核验及登记分母均保留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证据：verification.json；verify/*.json；summary.json：postfit_numerical_screen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7" y="1508760"/>
          <a:ext cx="11430000" cy="1190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743200"/>
                <a:gridCol w="1920240"/>
                <a:gridCol w="1188720"/>
                <a:gridCol w="914400"/>
                <a:gridCol w="2926080"/>
              </a:tblGrid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被试/区域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模型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对照臂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片段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重积分最大变化</a:t>
                      </a:r>
                    </a:p>
                  </a:txBody>
                  <a:tcPr marL="36576" marR="27432" marT="50292" marB="32004" anchor="t">
                    <a:solidFill>
                      <a:srgbClr val="2444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VP019 posterior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P1τ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C0b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0.01425</a:t>
                      </a:r>
                    </a:p>
                  </a:txBody>
                  <a:tcPr marL="36576" marR="27432" marT="50292" marB="32004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VP019 posterior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P3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C0b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B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>
                          <a:solidFill>
                            <a:srgbClr val="24364A"/>
                          </a:solidFill>
                          <a:latin typeface="Noto Sans CJK SC"/>
                        </a:defRPr>
                      </a:pPr>
                      <a:r>
                        <a:t>0.02404</a:t>
                      </a:r>
                    </a:p>
                  </a:txBody>
                  <a:tcPr marL="36576" marR="27432" marT="50292" marB="32004" anchor="t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33872"/>
            <a:ext cx="109728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750" b="0">
                <a:solidFill>
                  <a:srgbClr val="24364A"/>
                </a:solidFill>
                <a:latin typeface="Noto Sans CJK SC"/>
              </a:defRPr>
            </a:pPr>
            <a:r>
              <a:t>受影响的冻结评价记录为0条。原始 verification_pass 仍为False；最终汇总完成了失败归类，没有放宽精度门槛。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01400" cy="566928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600" b="1">
                <a:solidFill>
                  <a:srgbClr val="24364A"/>
                </a:solidFill>
                <a:latin typeface="Noto Sans CJK SC"/>
              </a:defRPr>
            </a:pPr>
            <a:r>
              <a:t>方法出处与解释限制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23544"/>
            <a:ext cx="11155680" cy="48463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400" b="0">
                <a:solidFill>
                  <a:srgbClr val="536A80"/>
                </a:solidFill>
                <a:latin typeface="Noto Sans CJK SC"/>
              </a:defRPr>
            </a:pPr>
            <a:r>
              <a:t>文献提供分析方法；当前项目的数值和结论只以本轮保留证据为准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492240"/>
            <a:ext cx="10789920" cy="21031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850" b="0">
                <a:solidFill>
                  <a:srgbClr val="66788A"/>
                </a:solidFill>
                <a:latin typeface="Noto Sans CJK SC"/>
              </a:defRPr>
            </a:pPr>
            <a:r>
              <a:t>证据：docs/DATASETS_DESCRIPTION.md；Raue 2009；Friston 2015；PLOS pcbi.1011417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28232"/>
            <a:ext cx="457200" cy="27432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100" b="0">
                <a:solidFill>
                  <a:srgbClr val="66788A"/>
                </a:solidFill>
                <a:latin typeface="Noto Sans CJK SC"/>
              </a:defRPr>
            </a:pPr>
            <a: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完整剖面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rPr>
                <a:hlinkClick r:id="rId2"/>
              </a:rPr>
              <a:t>Raue et al., Bioinformatics (2009)：固定目标参数后重新优化其余未知量。本轮目标含工程正则，故不直接套用似然置信区间。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53619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层级共享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01168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rPr>
                <a:hlinkClick r:id="rId3"/>
              </a:rPr>
              <a:t>Friston et al., Frontiers in Systems Neuroscience (2015)：群体共享可能改善估计，也会引入先验依赖；本轮另查恢复斜率和差异压缩。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有限样本限制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rPr>
                <a:hlinkClick r:id="rId4"/>
              </a:rPr>
              <a:t>PLOS Computational Biology, doi:10.1371/journal.pcbi.1011417：非线性ODE模型中的渐近阈值需校准。本轮剖面仅作工程容差诊断。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685032"/>
            <a:ext cx="5303520" cy="365760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数据出处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4160520"/>
            <a:ext cx="5303520" cy="1490472"/>
          </a:xfrm>
          <a:prstGeom prst="rect">
            <a:avLst/>
          </a:prstGeom>
          <a:noFill/>
        </p:spPr>
        <p:txBody>
          <a:bodyPr wrap="square" tIns="9144" bIns="9144" lIns="18288" rIns="18288" anchor="t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  <a:defRPr sz="1900" b="0">
                <a:solidFill>
                  <a:srgbClr val="24364A"/>
                </a:solidFill>
                <a:latin typeface="Noto Sans CJK SC"/>
              </a:defRPr>
            </a:pPr>
            <a:r>
              <a:t>Single-Trial：Shin et al. EEG+NIRS；Simultaneous：Shin et al. Cognitive Tasks；Visual：Kyushu visual cognitive motivation 原生发布说明。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