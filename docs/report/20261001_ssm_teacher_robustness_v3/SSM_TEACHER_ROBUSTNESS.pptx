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证据文件：summary.json; measured_summary.csv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证据文件：measured_summary.csv; measured_paired.csv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证据文件：summary.json; measured_summary.csv; null_comparisons.csv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证据文件：resolved_config.yaml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证据文件：source_snapshot/src/inference/shared_driver_reconstruction.py; resolved_config.yaml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证据文件：synthetic_calibration.json; calibration/*.json; measured_plan.json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证据文件：synthetic_summary.csv; synthetic_metrics.csv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证据文件：synthetic_summary.csv; synthetic_metrics.csv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证据文件：synthetic_summary.csv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证据文件：counterfactual_summary.csv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证据文件：synthetic_summary.csv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证据文件：synthetic_reliability.csv; synthetic_metrics.csv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证据文件：measured_plan.json; processing_timing_audit.json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证据文件：summary.json; measured_summary.csv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证据文件：measured_summary.csv; measured_paired.csv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证据文件：measured_paired.csv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证据文件：null_comparisons.csv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证据文件：null_comparisons.csv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证据文件：teacher_summary.csv; measured/*/result.npz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证据文件：measured_metrics.csv; measured/*/result.npz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证据文件：repeatability_summary.csv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证据文件：profile_summary.csv; profile_metrics.csv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证据文件：profile_summary.csv; profile_metrics.csv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证据文件：summary.json; resources.json; *_manifest.json; verification.json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证据文件：summary.json; measured_paired.csv; null_comparisons.csv; synthetic_summary.csv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事实源：/SSD_2/pid-mcm-implementation/experiments/runs/physiology_semantic_tokenizer/shared_driver_teacher_robustness/20261001_v1</a:t>
            </a:r>
          </a:p>
          <a:p>
            <a:r>
              <a:t>证据文件：resolved_config.yaml; launch.json; source_snapshot/; presentation_sources.json</a:t>
            </a:r>
          </a:p>
          <a:p>
            <a:r>
              <a:t>NRMSE 分母为冻结训练尺度；误差统计注明成功子集，失败另列。稳健性指标不等于后验概率或唯一生理来源。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让共享状态更可靠：四臂实验结果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保留六状态生理核心 · 观测失配、proper 先验与条件 teacher 的完整检验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4747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000" b="1">
                <a:solidFill>
                  <a:srgbClr val="198A83"/>
                </a:solidFill>
                <a:latin typeface="Noto Sans CJK SC"/>
              </a:rPr>
              <a:t>主要问题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56692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900" b="1">
                <a:solidFill>
                  <a:srgbClr val="23384D"/>
                </a:solidFill>
                <a:latin typeface="Noto Sans CJK SC"/>
              </a:rPr>
              <a:t>当观测改变时，</a:t>
            </a:r>
          </a:p>
          <a:p>
            <a:pPr>
              <a:spcAft>
                <a:spcPts val="1300"/>
              </a:spcAft>
            </a:pPr>
            <a:r>
              <a:rPr sz="2900" b="1">
                <a:solidFill>
                  <a:srgbClr val="23384D"/>
                </a:solidFill>
                <a:latin typeface="Noto Sans CJK SC"/>
              </a:rPr>
              <a:t>共享状态能否保持正确，</a:t>
            </a:r>
          </a:p>
          <a:p>
            <a:pPr>
              <a:spcAft>
                <a:spcPts val="1300"/>
              </a:spcAft>
            </a:pPr>
            <a:r>
              <a:rPr sz="2900" b="1">
                <a:solidFill>
                  <a:srgbClr val="23384D"/>
                </a:solidFill>
                <a:latin typeface="Noto Sans CJK SC"/>
              </a:rPr>
              <a:t>或明确显示不可靠？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286000"/>
            <a:ext cx="502920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500" b="0">
                <a:solidFill>
                  <a:srgbClr val="23384D"/>
                </a:solidFill>
                <a:latin typeface="Noto Sans CJK SC"/>
              </a:rPr>
              <a:t>4,992 次合成拟合</a:t>
            </a:r>
          </a:p>
          <a:p>
            <a:pPr>
              <a:spcAft>
                <a:spcPts val="1300"/>
              </a:spcAft>
            </a:pPr>
            <a:r>
              <a:rPr sz="2500" b="0">
                <a:solidFill>
                  <a:srgbClr val="23384D"/>
                </a:solidFill>
                <a:latin typeface="Noto Sans CJK SC"/>
              </a:rPr>
              <a:t>7,200 次实测四臂拟合</a:t>
            </a:r>
          </a:p>
          <a:p>
            <a:pPr>
              <a:spcAft>
                <a:spcPts val="1300"/>
              </a:spcAft>
            </a:pPr>
            <a:r>
              <a:rPr sz="2500" b="0">
                <a:solidFill>
                  <a:srgbClr val="23384D"/>
                </a:solidFill>
                <a:latin typeface="Noto Sans CJK SC"/>
              </a:rPr>
              <a:t>72 个窗口 / 18 名被试 / 3 个数据集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000" b="0">
                <a:solidFill>
                  <a:srgbClr val="5A7187"/>
                </a:solidFill>
                <a:latin typeface="Noto Sans CJK SC"/>
              </a:rPr>
              <a:t>结果不等同于个体生理参数恢复或 tokenizer 语义资格。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先看核心端点：整段 EEG 隐藏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同一窗口、同一冻结尺度；表中为收敛窗口的 NRMSE 中位数，失败见执行审计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观测修正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驱动先验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训练模板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跨模态 ridge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8.431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5.782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1.095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1.096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1.055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1.306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20.369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7.030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1.153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1.109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0.949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1.154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12.569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8.626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1.110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1.101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1.012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1.248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480560"/>
            <a:ext cx="10835640" cy="1325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300" b="0">
                <a:solidFill>
                  <a:srgbClr val="23384D"/>
                </a:solidFill>
                <a:latin typeface="Noto Sans CJK SC"/>
              </a:rPr>
              <a:t>减小逆推发散只解决稳定性问题；只有优于模板/自身上下文并通过错误配对检验，</a:t>
            </a:r>
          </a:p>
          <a:p>
            <a:pPr>
              <a:spcAft>
                <a:spcPts val="1300"/>
              </a:spcAft>
            </a:pPr>
            <a:r>
              <a:rPr sz="2300" b="0">
                <a:solidFill>
                  <a:srgbClr val="23384D"/>
                </a:solidFill>
                <a:latin typeface="Noto Sans CJK SC"/>
              </a:rPr>
              <a:t>才支持额外的跨模态信息。原始重建变好不能替代这一端点。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结果：改善稳定性，尚不能放行通用语义 teacher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重建、独立补全和状态正确性给出了不同答案，必须分别保留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566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800" b="1">
                <a:solidFill>
                  <a:srgbClr val="198A83"/>
                </a:solidFill>
                <a:latin typeface="Noto Sans CJK SC"/>
              </a:rPr>
              <a:t>完整重建</a:t>
            </a:r>
          </a:p>
          <a:p>
            <a:pPr>
              <a:spcAft>
                <a:spcPts val="1300"/>
              </a:spcAft>
            </a:pPr>
            <a:r>
              <a:rPr sz="2800" b="1">
                <a:solidFill>
                  <a:srgbClr val="198A83"/>
                </a:solidFill>
                <a:latin typeface="Noto Sans CJK SC"/>
              </a:rPr>
              <a:t>53/72 → 64/72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828800"/>
            <a:ext cx="3566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800" b="1">
                <a:solidFill>
                  <a:srgbClr val="387BA7"/>
                </a:solidFill>
                <a:latin typeface="Noto Sans CJK SC"/>
              </a:rPr>
              <a:t>隐藏 EEG</a:t>
            </a:r>
          </a:p>
          <a:p>
            <a:pPr>
              <a:spcAft>
                <a:spcPts val="1300"/>
              </a:spcAft>
            </a:pPr>
            <a:r>
              <a:rPr sz="2800" b="1">
                <a:solidFill>
                  <a:srgbClr val="387BA7"/>
                </a:solidFill>
                <a:latin typeface="Noto Sans CJK SC"/>
              </a:rPr>
              <a:t>误差降至约 1.10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828800"/>
            <a:ext cx="3566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500" b="1">
                <a:solidFill>
                  <a:srgbClr val="A56932"/>
                </a:solidFill>
                <a:latin typeface="Noto Sans CJK SC"/>
              </a:rPr>
              <a:t>整模态配对 / 时移</a:t>
            </a:r>
          </a:p>
          <a:p>
            <a:pPr>
              <a:spcAft>
                <a:spcPts val="1300"/>
              </a:spcAft>
            </a:pPr>
            <a:r>
              <a:rPr sz="2500" b="1">
                <a:solidFill>
                  <a:srgbClr val="A56932"/>
                </a:solidFill>
                <a:latin typeface="Noto Sans CJK SC"/>
              </a:rPr>
              <a:t>0/12 区间全为正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78992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300" b="0">
                <a:solidFill>
                  <a:srgbClr val="23384D"/>
                </a:solidFill>
                <a:latin typeface="Noto Sans CJK SC"/>
              </a:rPr>
              <a:t>驱动先验显著限制了隐藏 EEG 时的发散，但三个数据集的中位误差仍高于训练模板。</a:t>
            </a:r>
          </a:p>
          <a:p>
            <a:pPr>
              <a:spcAft>
                <a:spcPts val="1300"/>
              </a:spcAft>
            </a:pPr>
            <a:r>
              <a:rPr sz="2300" b="0">
                <a:solidFill>
                  <a:srgbClr val="23384D"/>
                </a:solidFill>
                <a:latin typeface="Noto Sans CJK SC"/>
              </a:rPr>
              <a:t>观测项改善完整重建，却在三个数据集都使隐藏 HbR 的中位补全误差变差。</a:t>
            </a:r>
          </a:p>
          <a:p>
            <a:pPr>
              <a:spcAft>
                <a:spcPts val="1300"/>
              </a:spcAft>
            </a:pPr>
            <a:r>
              <a:rPr sz="2300" b="0">
                <a:solidFill>
                  <a:srgbClr val="23384D"/>
                </a:solidFill>
                <a:latin typeface="Noto Sans CJK SC"/>
              </a:rPr>
              <a:t>当前应保留条件目标与敏感性输出，限制其用途；不把观测残差吸收进“已验证生理语义”。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四臂只改变观测误差与驱动约束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六状态动力学、H0 参数、处理算子、样本身份和优化预算保持一致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560320"/>
                <a:gridCol w="2560320"/>
                <a:gridCol w="393192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共同 Hb 成分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proper 驱动先验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要回答的问题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保留原逆推失败与误差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M-observation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4 模式、固定方向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减少观测失配对状态的污染？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M-prior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无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训练冻结幅度约束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隐藏 EEG 时限制 DC / 低频发散？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M-combined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同观测臂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同先验臂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两者互补还是产生新补偿？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12080"/>
            <a:ext cx="1078992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23384D"/>
                </a:solidFill>
                <a:latin typeface="Noto Sans CJK SC"/>
              </a:rPr>
              <a:t>物理 H(x)、额外共同成分、完整预测分别保存。额外成分不预先归因为头皮、血容量或仪器噪声。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模型表达：限制容量，保留分解歧义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额外项为观测层变量；不是第七个生理状态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05</a:t>
            </a:r>
          </a:p>
        </p:txBody>
      </p:sp>
      <p:pic>
        <p:nvPicPr>
          <p:cNvPr id="5" name="Picture 4" descr="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23" y="1737360"/>
            <a:ext cx="10794248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892040"/>
            <a:ext cx="1078992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c(t)：4 个固定余弦模式，系数由可见 Hb 精确求解并带幅度惩罚。</a:t>
            </a:r>
          </a:p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r(t)：曲率惩罚 + 可选 proper 幅度约束，补上常数/线性方向。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训练与评价分开，失败继续留在分母中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合成与实测分别冻结强度；组合臂复用单项选择，不在测试窗口重新选参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91840"/>
                <a:gridCol w="2834640"/>
              </a:tblGrid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对象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尺度来源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强度选择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独立评价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合成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已知训练驱动 / 共同成分分布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独立 seed 流；5 种条件 × 2 遮挡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32 真值组 × 13 条件 × 3 遮挡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实测驱动先验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外折训练 H0 潜驱动 RMS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被试不重叠的训练内遮挡窗口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parent 预选的 72 窗口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实测观测项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外折训练 H0 的 Hb 残差系数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同一训练内窗口与尺度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同一 72 窗口及错误配对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92040"/>
            <a:ext cx="10789920" cy="1143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23384D"/>
                </a:solidFill>
                <a:latin typeface="Noto Sans CJK SC"/>
              </a:rPr>
              <a:t>训练信号尺度、观测噪声、潜驱动分布分别命名。本轮没有校准观测噪声或后验概率。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23384D"/>
                </a:solidFill>
                <a:latin typeface="Noto Sans CJK SC"/>
              </a:rPr>
              <a:t>PCA/SD 继承外折冻结坐标；内层选择和区间均条件于这些坐标。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合成：全观测下的驱动恢复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每格 32 组真值；收敛解 NRMSE 中位数 / 训练潜驱动尺度；未满额时另标成功数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07</a:t>
            </a:r>
          </a:p>
        </p:txBody>
      </p:sp>
      <p:pic>
        <p:nvPicPr>
          <p:cNvPr id="5" name="Picture 4" descr="synthetic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847" y="1664208"/>
            <a:ext cx="947999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合成：整段 EEG 隐藏后的驱动恢复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每格 32 组真值；收敛解 NRMSE 中位数 / 训练潜驱动尺度；未满额时另标成功数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08</a:t>
            </a:r>
          </a:p>
        </p:txBody>
      </p:sp>
      <p:pic>
        <p:nvPicPr>
          <p:cNvPr id="5" name="Picture 4" descr="synthetic_EEG_hid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847" y="1664208"/>
            <a:ext cx="947999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驱动的绝对水平与波形形状必须分开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首 5 s 参考只改变评分坐标；不回头修改拟合或主要端点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2011680"/>
                <a:gridCol w="2194560"/>
                <a:gridCol w="164592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条件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完整驱动误差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参考后驱动误差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形状相关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匹配对照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0.101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0.050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0.999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匹配对照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0.241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0.055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0.999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与驱动相关的共同成分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1.049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0.138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0.992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与驱动相关的共同成分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0.312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0.089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0.997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Hb 时间偏移 3 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0.921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0.484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0.877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Hb 时间偏移 3 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0.613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0.489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0.871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532120"/>
            <a:ext cx="107899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3384D"/>
                </a:solidFill>
                <a:latin typeface="Noto Sans CJK SC"/>
              </a:rPr>
              <a:t>匹配条件下先验引入的误差主要在偏移方向；不能据此说驱动形状已经被压坏。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3384D"/>
                </a:solidFill>
                <a:latin typeface="Noto Sans CJK SC"/>
              </a:rPr>
              <a:t>可监督的候选功能应单独验证，不自动把完整潜驱动或全部六状态作为真值。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真实驱动改变时，模型是否跟随？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保持观察条件不变；比较相对同 seed 对照的估计变化与真变化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10</a:t>
            </a:r>
          </a:p>
        </p:txBody>
      </p:sp>
      <p:pic>
        <p:nvPicPr>
          <p:cNvPr id="5" name="Picture 4" descr="true_chan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831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合成：直接看误差归属，而不只看完整重建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物理成分与已知物理真值比较；共同成分与注入成分比较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条件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M0 物理误差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观测修正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驱动先验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匹配对照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0.025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0.026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0.028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0.029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基底内共同成分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0.285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0.100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0.284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0.099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与驱动相关的共同成分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0.477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0.303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0.466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0.283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基底外有色共同成分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0.486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0.365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0.486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0.362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Hb 时间偏移 3 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0.684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0.668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0.682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0.666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486400"/>
            <a:ext cx="1078992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000" b="0">
                <a:solidFill>
                  <a:srgbClr val="23384D"/>
                </a:solidFill>
                <a:latin typeface="Noto Sans CJK SC"/>
              </a:rPr>
              <a:t>此处误差的目标是已知 H(x)；实测没有这份真值，不能把加残差后的低误差报告成物理状态恢复。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负结果：稳定的输出仍然可能是错误的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同真值反事实集合上的敏感性筛查；大误差定义为任一观测条件下逐点误差 &gt;0.5 个潜驱动尺度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稳定时间占比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大误差时间占比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稳定且错 / 全部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稳定集合内错率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97.4%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观测修正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0.5%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89.4%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0.0%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驱动先验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7.7%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78.9%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2.2%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29.3%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17.4%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68.1%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6.1%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35.2%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800600"/>
            <a:ext cx="107899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300" b="0">
                <a:solidFill>
                  <a:srgbClr val="A56932"/>
                </a:solidFill>
                <a:latin typeface="Noto Sans CJK SC"/>
              </a:rPr>
              <a:t>这是本轮不能直接放行 semantic teacher 的关键证据。</a:t>
            </a:r>
          </a:p>
          <a:p>
            <a:pPr>
              <a:spcAft>
                <a:spcPts val="1300"/>
              </a:spcAft>
            </a:pPr>
            <a:r>
              <a:rPr sz="2300" b="0">
                <a:solidFill>
                  <a:srgbClr val="A56932"/>
                </a:solidFill>
                <a:latin typeface="Noto Sans CJK SC"/>
              </a:rPr>
              <a:t>先验可以压低扰动响应，同时保留系统性偏差；需要带真值的校准与额外独立证据。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实测范围与时间处理边界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与上一轮使用完全相同的 QC 预选窗口；不是全体被试的新普查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6858000"/>
              </a:tblGrid>
              <a:tr h="4754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被试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窗口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</a:rPr>
                        <a:t>观测与重复边界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相对 Hb + EEG log-power PCA；真实 session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发布 Hb 浓度；原 task/session/block 身份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84D"/>
                          </a:solidFill>
                          <a:latin typeface="Noto Sans CJK SC"/>
                        </a:rPr>
                        <a:t>发布 Hb 单位未核定；Part 或记录内不重叠块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251960"/>
            <a:ext cx="10789920" cy="1691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23384D"/>
                </a:solidFill>
                <a:latin typeface="Noto Sans CJK SC"/>
              </a:rPr>
              <a:t>30 s / 120 点 / 4 Hz；首 5 s 为坐标参考，不统一称为静息。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23384D"/>
                </a:solidFill>
                <a:latin typeface="Noto Sans CJK SC"/>
              </a:rPr>
              <a:t>统一窗口内离线算子；12 s 移位对照不环绕，真实配对匹配相同支持。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23384D"/>
                </a:solidFill>
                <a:latin typeface="Noto Sans CJK SC"/>
              </a:rPr>
              <a:t>REFED 缺少可信 EEG–Hb 共同几何，本轮不补造跨模态对应。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实测：完整重建与物理成分分开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四臂都对可见全窗重新拟合驱动与初态；此页是重建，不是预测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14</a:t>
            </a:r>
          </a:p>
        </p:txBody>
      </p:sp>
      <p:pic>
        <p:nvPicPr>
          <p:cNvPr id="5" name="Picture 4" descr="physical_vs_to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5519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训练尺度合格，并不等于窗口波形准确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完整重建三分量均 &lt;0.5 的计数；右列展示局部尺度误差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2011680"/>
                <a:gridCol w="2377440"/>
                <a:gridCol w="237744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全分母达标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训练 SD NRMSE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窗口 SD NRMSE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17/24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0.263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0.524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20/24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0.244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0.385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17/24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0.290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0.567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22/24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0.233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0.384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19/24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0.251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0.520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22/24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0.227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0.455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中心 4 s 遮挡：先与自身上下文比较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同一隐藏区间；完整测试结果与失败状态均保留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16</a:t>
            </a:r>
          </a:p>
        </p:txBody>
      </p:sp>
      <p:pic>
        <p:nvPicPr>
          <p:cNvPr id="5" name="Picture 4" descr="center_comp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40793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整模态缺失：先验是否改善不稳定逆推？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纵轴采用对数尺度；训练模板与跨模态 ridge 同时展示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17</a:t>
            </a:r>
          </a:p>
        </p:txBody>
      </p:sp>
      <p:pic>
        <p:nvPicPr>
          <p:cNvPr id="5" name="Picture 4" descr="whole_comp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41191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单条 Hb 隐藏：共同项是否帮助独立补全？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HbO/HbR 单列；不能用已观测另一分量的重建收益代替隐藏目标误差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18</a:t>
            </a:r>
          </a:p>
        </p:txBody>
      </p:sp>
      <p:pic>
        <p:nvPicPr>
          <p:cNvPr id="5" name="Picture 4" descr="single_Hb_comp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41162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与 M0 的配对比较：给出被试层区间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正值表示候选误差更低；仅共同收敛窗口，按被试聚合后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1605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隐藏目标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共同成功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组合改善均值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95% 被试区间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EEG_hidden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20/24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15.029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[6.451, 24.417]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Hb_hidden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0.039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[0.021, 0.058]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center_Hb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0.107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[-0.025, 0.305]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EEG_hidden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24.315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[13.051, 36.084]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Hb_hidden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0.014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[0.011, 0.016]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center_Hb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0.208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[0.039, 0.413]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EEG_hidden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13.772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[7.572, 20.801]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Hb_hidden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0.011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[0.008, 0.014]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center_Hb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24/24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0.030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[-0.002, 0.074]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隐藏 EEG 的真实配对信息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正值：错误配对误差更大；区间跨 0 时不主张真实配对优势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错被试：均值 [95% CI]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时间移位：均值 [95% CI]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-6.458 [-15.007, 2.568]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6.667 [-2.563, 17.912]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-0.013 [-0.049, 0.029]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-0.019 [-0.081, 0.051]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-12.814 [-24.189, -1.460]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3.122 [0.108, 6.903]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0.027 [-0.036, 0.088]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0.021 [-0.063, 0.152]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-7.685 [-15.841, 0.370]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-0.309 [-3.464, 1.944]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-0.068 [-0.141, 0.020]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-0.001 [-0.034, 0.027]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隐藏 Hb 的真实配对信息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正值：错误配对误差更大；区间跨 0 时不主张真实配对优势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3657600"/>
                <a:gridCol w="3657600"/>
              </a:tblGrid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错被试：均值 [95% CI]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时间移位：均值 [95% CI]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-0.176 [-0.412, 0.012]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-0.170 [-0.329, -0.051]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-0.167 [-0.380, 0.002]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-0.149 [-0.290, -0.036]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0.027 [-0.015, 0.069]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0.011 [-0.002, 0.022]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0.024 [-0.013, 0.064]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0.008 [-0.002, 0.017]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-0.054 [-0.092, 0.010]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0.022 [-0.016, 0.059]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-0.051 [-0.086, 0.008]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0.028 [-0.008, 0.061]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teacher 输出：目标值及其适用范围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逐点稳健性掩码来自明确扰动集合；不是后验置信度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22</a:t>
            </a:r>
          </a:p>
        </p:txBody>
      </p:sp>
      <p:pic>
        <p:nvPicPr>
          <p:cNvPr id="5" name="Picture 4" descr="teacher_m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5507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77840"/>
            <a:ext cx="107899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3384D"/>
                </a:solidFill>
                <a:latin typeface="Noto Sans CJK SC"/>
              </a:rPr>
              <a:t>小扰动稳定不能替代正确性；先验很强时也可能稳定地输出错误轨迹。应联合查看合成真值和配对对照。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实例：隐藏 EEG 之后，驱动如何变化？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固定选择 Single-Trial 中 M0 隐藏 EEG 误差最大的窗口；这是诊断图，不用于选参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23</a:t>
            </a:r>
          </a:p>
        </p:txBody>
      </p:sp>
      <p:pic>
        <p:nvPicPr>
          <p:cNvPr id="5" name="Picture 4" descr="hidden_EEG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" y="1664208"/>
            <a:ext cx="10972800" cy="3737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07608"/>
            <a:ext cx="109728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eeg_fnirs_single_trial__subject_19__session_02__prefrontal__w12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独立记录 / 分块：检验功能稳定性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不同记录有不同真实神经活动；此处不是同一潜驱动的重复测量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2194560"/>
                <a:gridCol w="1371600"/>
                <a:gridCol w="2194560"/>
                <a:gridCol w="1920240"/>
              </a:tblGrid>
              <a:tr h="462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数据集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方案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重复类型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配对被试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RMS 对称相对差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</a:rPr>
                        <a:t>绝对一致性 ICC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记录/session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0.115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0.252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记录/session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0.173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0.551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记录/session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0.016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0.915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记录/session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0.087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0.902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记录/session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0.059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0.623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组合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记录内分块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0.156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—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记录/session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4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0.087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0.887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Visual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M0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记录内分块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0.252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3384D"/>
                          </a:solidFill>
                          <a:latin typeface="Noto Sans CJK SC"/>
                        </a:rPr>
                        <a:t>—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99048"/>
            <a:ext cx="107899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200" b="0">
                <a:solidFill>
                  <a:srgbClr val="23384D"/>
                </a:solidFill>
                <a:latin typeface="Noto Sans CJK SC"/>
              </a:rPr>
              <a:t>重复身份分开保留；不同任务、记录状态与坐标均影响数值，不据此发布个体参数。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参数—轨迹 profile：τ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每个网格点重新优化驱动、初态及观测项；5% 目标增量不是置信区间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身份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最优网格值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5% 近等价范围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驱动跨度 / SD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成功 / 网格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Single-Trial/subject_05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1–2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0.102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5/5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Single-Trial/subject_08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0.5–1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0.027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5/5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Simultaneous/VP003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0.5–1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0.030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5/5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Simultaneous/VP006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8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0.5–8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0.150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5/5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Visual/S01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0.5–1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0.019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5/5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Visual/S03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0.5–2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5/5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0">
                <a:solidFill>
                  <a:srgbClr val="23384D"/>
                </a:solidFill>
                <a:latin typeface="Noto Sans CJK SC"/>
              </a:rPr>
              <a:t>表中展示组合方案；全部 6 窗口 × 4 臂 × 11 网格值均保留，包含 1e−6 的近零增益对照。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参数—轨迹 profile：增益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每个网格点重新优化驱动、初态及观测项；5% 目标增量不是置信区间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7548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身份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最优网格值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5% 近等价范围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驱动跨度 / SD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Noto Sans CJK SC"/>
                        </a:rPr>
                        <a:t>成功 / 网格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Single-Trial/subject_05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1–1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6/6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Single-Trial/subject_08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2–2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6/6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Simultaneous/VP003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10–10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0.000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6/6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Simultaneous/VP006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1e-06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1e-06–0.1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0.024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6/6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Visual/S01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1–2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0.062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6/6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Visual/S03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1e-06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1e-06–0.1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0.011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3384D"/>
                          </a:solidFill>
                          <a:latin typeface="Noto Sans CJK SC"/>
                        </a:rPr>
                        <a:t>6/6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0">
                <a:solidFill>
                  <a:srgbClr val="23384D"/>
                </a:solidFill>
                <a:latin typeface="Noto Sans CJK SC"/>
              </a:rPr>
              <a:t>表中展示组合方案；全部 6 窗口 × 4 臂 × 11 网格值均保留，包含 1e−6 的近零增益对照。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数值与执行审计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运行完成不等于全部拟合成功；失败分母和资源证据一并交付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83080"/>
          <a:ext cx="109728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检查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</a:rPr>
                        <a:t>结果</a:t>
                      </a:r>
                    </a:p>
                  </a:txBody>
                  <a:tcPr marL="91440" marR="64008" anchor="ctr">
                    <a:solidFill>
                      <a:srgbClr val="2338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合成正式拟合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4966 / 4992 收敛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实测四臂拟合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7193 / 7200 收敛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敏感性 / profile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3456 条敏感性记录；264 次 profile 拟合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计算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user systemd；最多 48 进程 × 1 数值线程；独立源码快照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误差与分母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未加权原坐标误差、训练 SD、局部 SD、全部失败身份均保留</a:t>
                      </a:r>
                    </a:p>
                  </a:txBody>
                  <a:tcPr marL="91440" marR="6400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交付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3384D"/>
                          </a:solidFill>
                          <a:latin typeface="Noto Sans CJK SC"/>
                        </a:rPr>
                        <a:t>PPT 正文与表格可编辑；图为 240 dpi PNG；WPS 未检查</a:t>
                      </a:r>
                    </a:p>
                  </a:txBody>
                  <a:tcPr marL="91440" marR="64008" anchor="ctr">
                    <a:solidFill>
                      <a:srgbClr val="EA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本轮结论应如何使用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按端点决定使用范围，不以重建漂亮或参数离开边界替代验证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789920" cy="2514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400" b="0">
                <a:solidFill>
                  <a:srgbClr val="23384D"/>
                </a:solidFill>
                <a:latin typeface="Noto Sans CJK SC"/>
              </a:rPr>
              <a:t>1  先验可作为缺失条件下的稳定化候选；本轮不能将其提升为更准确的通用 teacher。</a:t>
            </a:r>
          </a:p>
          <a:p>
            <a:pPr>
              <a:spcAft>
                <a:spcPts val="1300"/>
              </a:spcAft>
            </a:pPr>
            <a:r>
              <a:rPr sz="2400" b="0">
                <a:solidFill>
                  <a:srgbClr val="23384D"/>
                </a:solidFill>
                <a:latin typeface="Noto Sans CJK SC"/>
              </a:rPr>
              <a:t>2  观测项保留为受约束失配表达；完整重建收益未稳定转为独立补全收益。</a:t>
            </a:r>
          </a:p>
          <a:p>
            <a:pPr>
              <a:spcAft>
                <a:spcPts val="1300"/>
              </a:spcAft>
            </a:pPr>
            <a:r>
              <a:rPr sz="2400" b="0">
                <a:solidFill>
                  <a:srgbClr val="23384D"/>
                </a:solidFill>
                <a:latin typeface="Noto Sans CJK SC"/>
              </a:rPr>
              <a:t>3  驱动形状与偏移分开验证；小扰动稳定不等于正确，也不等于真实跨模态耦合。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17720"/>
            <a:ext cx="10789920" cy="1417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100" b="0">
                <a:solidFill>
                  <a:srgbClr val="198A83"/>
                </a:solidFill>
                <a:latin typeface="Noto Sans CJK SC"/>
              </a:rPr>
              <a:t>下一步优先：检验可监督的参考后驱动功能、缺失条件先验的偏差与稳定性取舍，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198A83"/>
                </a:solidFill>
                <a:latin typeface="Noto Sans CJK SC"/>
              </a:rPr>
              <a:t>并用独立时钟 / 观测校准证据定位剩余失配。</a:t>
            </a:r>
          </a:p>
          <a:p>
            <a:pPr>
              <a:spcAft>
                <a:spcPts val="1300"/>
              </a:spcAft>
            </a:pPr>
            <a:r>
              <a:rPr sz="2100" b="0">
                <a:solidFill>
                  <a:srgbClr val="198A83"/>
                </a:solidFill>
                <a:latin typeface="Noto Sans CJK SC"/>
              </a:rPr>
              <a:t>本轮没有启动 H1/H2 扩展、tokenizer 训练或受保护数据评估。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3000" b="1">
                <a:solidFill>
                  <a:srgbClr val="23384D"/>
                </a:solidFill>
                <a:latin typeface="Noto Sans CJK SC"/>
              </a:rPr>
              <a:t>证据与复现入口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87552"/>
            <a:ext cx="11064240" cy="5669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600" b="0">
                <a:solidFill>
                  <a:srgbClr val="5A7187"/>
                </a:solidFill>
                <a:latin typeface="Noto Sans CJK SC"/>
              </a:rPr>
              <a:t>所有数字来自当前完成的运行；上一轮只提供被冻结的输入身份、坐标与窗口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10789920" cy="2103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000" b="0">
                <a:solidFill>
                  <a:srgbClr val="6F8293"/>
                </a:solidFill>
                <a:latin typeface="Noto Sans CJK SC"/>
              </a:rPr>
              <a:t>2026.10.01  /  SSM 条件语义 teacher  /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7899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实验合同：shared_driver_teacher_robustness_v1.yaml</a:t>
            </a:r>
          </a:p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入口：evaluate_shared_driver_reconstruction.py --teacher-robustness</a:t>
            </a:r>
          </a:p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结果：synthetic_summary / measured_summary / measured_paired / null_comparisons</a:t>
            </a:r>
          </a:p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teacher：measured/&lt;window&gt;/result.npz + result.json</a:t>
            </a:r>
          </a:p>
          <a:p>
            <a:pPr>
              <a:spcAft>
                <a:spcPts val="1300"/>
              </a:spcAft>
            </a:pPr>
            <a:r>
              <a:rPr sz="2200" b="0">
                <a:solidFill>
                  <a:srgbClr val="23384D"/>
                </a:solidFill>
                <a:latin typeface="Noto Sans CJK SC"/>
              </a:rPr>
              <a:t>运行身份：20261001_v1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0"/>
            <a:ext cx="107899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</a:pPr>
            <a:r>
              <a:rPr sz="1800" b="0">
                <a:solidFill>
                  <a:srgbClr val="23384D"/>
                </a:solidFill>
                <a:latin typeface="Noto Sans CJK SC"/>
              </a:rPr>
              <a:t>全部结果仍为探索性条件证据。三数据集各 6 名被试，区间条件于冻结的训练对象；</a:t>
            </a:r>
          </a:p>
          <a:p>
            <a:pPr>
              <a:spcAft>
                <a:spcPts val="1300"/>
              </a:spcAft>
            </a:pPr>
            <a:r>
              <a:rPr sz="1800" b="0">
                <a:solidFill>
                  <a:srgbClr val="23384D"/>
                </a:solidFill>
                <a:latin typeface="Noto Sans CJK SC"/>
              </a:rPr>
              <a:t>小样本重复性、未识别来源、无独立时钟标定等限制必须与数值一起解读。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